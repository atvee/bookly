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positioning the project as more than CRUD: it is a complete library workflow product with identity, inventory, circulation, and analytics.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audience through one member journey. Emphasize that the system handles edge cases such as unavailable stock and duplicate active borrowing.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prove the codebase is structured professionally. Mention app separation, Django ORM, class-based views, and environment-driven database configuration.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confidence slide. Make clear that every core feature was implemented, and frame the recommendation system as intentionally explainable.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for showing product taste. Point out that the UI matches the domain: shelves, book cards, dashboards, and a warm reading-focused visual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discuss correctness. Mention transaction.atomic, model methods, unique active checkout constraint, fine calculation, and notifications.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handoff confidence slide. Name the files that make the project easy for another developer or evaluator to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reiterating completion and growth path. Invite questions about architecture, workflows, deployment, or UI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30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57200"/>
            <a:ext cx="164592" cy="164592"/>
          </a:xfrm>
          <a:prstGeom prst="rect">
            <a:avLst>
              <a:gd name="adj" fmla="val 16667"/>
            </a:avLst>
          </a:prstGeom>
          <a:solidFill>
            <a:srgbClr val="C47A28"/>
          </a:solidFill>
          <a:ln w="12700">
            <a:solidFill>
              <a:srgbClr val="C47A2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" y="4114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7E4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OVERVIEW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94360" y="96012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Astra Library turns a Django assignment into a real operating system.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21792" y="251460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2C6"/>
                </a:solidFill>
              </a:rPr>
              <a:t>Library Management System | Django full-stack project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26680" y="1051560"/>
            <a:ext cx="457200" cy="4297680"/>
          </a:xfrm>
          <a:prstGeom prst="rect">
            <a:avLst/>
          </a:prstGeom>
          <a:solidFill>
            <a:srgbClr val="1F6F5B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93608" y="1371600"/>
            <a:ext cx="457200" cy="4005072"/>
          </a:xfrm>
          <a:prstGeom prst="rect">
            <a:avLst/>
          </a:prstGeom>
          <a:solidFill>
            <a:srgbClr val="C47A28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60536" y="1051560"/>
            <a:ext cx="457200" cy="3712464"/>
          </a:xfrm>
          <a:prstGeom prst="rect">
            <a:avLst/>
          </a:prstGeom>
          <a:solidFill>
            <a:srgbClr val="285F8F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27464" y="1371600"/>
            <a:ext cx="457200" cy="4297680"/>
          </a:xfrm>
          <a:prstGeom prst="rect">
            <a:avLst/>
          </a:prstGeom>
          <a:solidFill>
            <a:srgbClr val="B64B57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94392" y="1051560"/>
            <a:ext cx="457200" cy="4005072"/>
          </a:xfrm>
          <a:prstGeom prst="rect">
            <a:avLst/>
          </a:prstGeom>
          <a:solidFill>
            <a:srgbClr val="6D6B3F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06640" y="5532120"/>
            <a:ext cx="3474720" cy="0"/>
          </a:xfrm>
          <a:prstGeom prst="line">
            <a:avLst/>
          </a:prstGeom>
          <a:noFill/>
          <a:ln w="12700">
            <a:solidFill>
              <a:srgbClr val="F7E4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46177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E4C9"/>
                </a:solidFill>
              </a:rPr>
              <a:t>4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85800" y="507492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FFFFFF"/>
                </a:solidFill>
              </a:rPr>
              <a:t>Django apps</a:t>
            </a:r>
            <a:endParaRPr lang="en-US" sz="840" dirty="0"/>
          </a:p>
        </p:txBody>
      </p:sp>
      <p:sp>
        <p:nvSpPr>
          <p:cNvPr id="14" name="Text 12"/>
          <p:cNvSpPr/>
          <p:nvPr/>
        </p:nvSpPr>
        <p:spPr>
          <a:xfrm>
            <a:off x="685800" y="5330952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D8D2C6"/>
                </a:solidFill>
              </a:rPr>
              <a:t>accounts, catalog, circulation, dashboards</a:t>
            </a:r>
            <a:endParaRPr lang="en-US" sz="730" dirty="0"/>
          </a:p>
        </p:txBody>
      </p:sp>
      <p:sp>
        <p:nvSpPr>
          <p:cNvPr id="15" name="Text 13"/>
          <p:cNvSpPr/>
          <p:nvPr/>
        </p:nvSpPr>
        <p:spPr>
          <a:xfrm>
            <a:off x="2606040" y="46177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E4C9"/>
                </a:solidFill>
              </a:rPr>
              <a:t>8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606040" y="507492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FFFFFF"/>
                </a:solidFill>
              </a:rPr>
              <a:t>tests passing</a:t>
            </a:r>
            <a:endParaRPr lang="en-US" sz="840" dirty="0"/>
          </a:p>
        </p:txBody>
      </p:sp>
      <p:sp>
        <p:nvSpPr>
          <p:cNvPr id="17" name="Text 15"/>
          <p:cNvSpPr/>
          <p:nvPr/>
        </p:nvSpPr>
        <p:spPr>
          <a:xfrm>
            <a:off x="2606040" y="5330952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D8D2C6"/>
                </a:solidFill>
              </a:rPr>
              <a:t>model, view, workflow coverage</a:t>
            </a:r>
            <a:endParaRPr lang="en-US" sz="730" dirty="0"/>
          </a:p>
        </p:txBody>
      </p:sp>
      <p:sp>
        <p:nvSpPr>
          <p:cNvPr id="18" name="Text 16"/>
          <p:cNvSpPr/>
          <p:nvPr/>
        </p:nvSpPr>
        <p:spPr>
          <a:xfrm>
            <a:off x="4526280" y="46177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E4C9"/>
                </a:solidFill>
              </a:rPr>
              <a:t>12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526280" y="507492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FFFFFF"/>
                </a:solidFill>
              </a:rPr>
              <a:t>seeded titles</a:t>
            </a:r>
            <a:endParaRPr lang="en-US" sz="840" dirty="0"/>
          </a:p>
        </p:txBody>
      </p:sp>
      <p:sp>
        <p:nvSpPr>
          <p:cNvPr id="20" name="Text 18"/>
          <p:cNvSpPr/>
          <p:nvPr/>
        </p:nvSpPr>
        <p:spPr>
          <a:xfrm>
            <a:off x="4526280" y="5330952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D8D2C6"/>
                </a:solidFill>
              </a:rPr>
              <a:t>with generated visual covers</a:t>
            </a:r>
            <a:endParaRPr lang="en-US" sz="730" dirty="0"/>
          </a:p>
        </p:txBody>
      </p:sp>
      <p:sp>
        <p:nvSpPr>
          <p:cNvPr id="21" name="Text 19"/>
          <p:cNvSpPr/>
          <p:nvPr/>
        </p:nvSpPr>
        <p:spPr>
          <a:xfrm>
            <a:off x="594360" y="64465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D2C6"/>
                </a:solidFill>
              </a:rPr>
              <a:t>Astra Library Management System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018520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7E4C9"/>
                </a:solidFill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144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36192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20240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04288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88336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72384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56432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24528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08576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92624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76672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60720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44768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28816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12864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96912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65008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49056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33104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17152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985248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369296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753344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137392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521440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12700">
            <a:solidFill>
              <a:srgbClr val="E7E0D2">
                <a:alpha val="5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84048"/>
            <a:ext cx="12191695" cy="0"/>
          </a:xfrm>
          <a:prstGeom prst="line">
            <a:avLst/>
          </a:prstGeom>
          <a:noFill/>
          <a:ln w="12700">
            <a:solidFill>
              <a:srgbClr val="E7E0D2">
                <a:alpha val="5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768096"/>
            <a:ext cx="12191695" cy="0"/>
          </a:xfrm>
          <a:prstGeom prst="line">
            <a:avLst/>
          </a:prstGeom>
          <a:noFill/>
          <a:ln w="12700">
            <a:solidFill>
              <a:srgbClr val="E7E0D2">
                <a:alpha val="5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1152144"/>
            <a:ext cx="12191695" cy="0"/>
          </a:xfrm>
          <a:prstGeom prst="line">
            <a:avLst/>
          </a:prstGeom>
          <a:noFill/>
          <a:ln w="12700">
            <a:solidFill>
              <a:srgbClr val="E7E0D2">
                <a:alpha val="5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1536192"/>
            <a:ext cx="12191695" cy="0"/>
          </a:xfrm>
          <a:prstGeom prst="line">
            <a:avLst/>
          </a:prstGeom>
          <a:noFill/>
          <a:ln w="12700">
            <a:solidFill>
              <a:srgbClr val="E7E0D2">
                <a:alpha val="5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1920240"/>
            <a:ext cx="12191695" cy="0"/>
          </a:xfrm>
          <a:prstGeom prst="line">
            <a:avLst/>
          </a:prstGeom>
          <a:noFill/>
          <a:ln w="12700">
            <a:solidFill>
              <a:srgbClr val="E7E0D2">
                <a:alpha val="5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2304288"/>
            <a:ext cx="12191695" cy="0"/>
          </a:xfrm>
          <a:prstGeom prst="line">
            <a:avLst/>
          </a:prstGeom>
          <a:noFill/>
          <a:ln w="12700">
            <a:solidFill>
              <a:srgbClr val="E7E0D2">
                <a:alpha val="5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2688336"/>
            <a:ext cx="12191695" cy="0"/>
          </a:xfrm>
          <a:prstGeom prst="line">
            <a:avLst/>
          </a:prstGeom>
          <a:noFill/>
          <a:ln w="12700">
            <a:solidFill>
              <a:srgbClr val="E7E0D2">
                <a:alpha val="5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3072384"/>
            <a:ext cx="12191695" cy="0"/>
          </a:xfrm>
          <a:prstGeom prst="line">
            <a:avLst/>
          </a:prstGeom>
          <a:noFill/>
          <a:ln w="12700">
            <a:solidFill>
              <a:srgbClr val="E7E0D2">
                <a:alpha val="5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3456432"/>
            <a:ext cx="12191695" cy="0"/>
          </a:xfrm>
          <a:prstGeom prst="line">
            <a:avLst/>
          </a:prstGeom>
          <a:noFill/>
          <a:ln w="12700">
            <a:solidFill>
              <a:srgbClr val="E7E0D2">
                <a:alpha val="5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3840480"/>
            <a:ext cx="12191695" cy="0"/>
          </a:xfrm>
          <a:prstGeom prst="line">
            <a:avLst/>
          </a:prstGeom>
          <a:noFill/>
          <a:ln w="12700">
            <a:solidFill>
              <a:srgbClr val="E7E0D2">
                <a:alpha val="5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4224528"/>
            <a:ext cx="12191695" cy="0"/>
          </a:xfrm>
          <a:prstGeom prst="line">
            <a:avLst/>
          </a:prstGeom>
          <a:noFill/>
          <a:ln w="12700">
            <a:solidFill>
              <a:srgbClr val="E7E0D2">
                <a:alpha val="5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4608576"/>
            <a:ext cx="12191695" cy="0"/>
          </a:xfrm>
          <a:prstGeom prst="line">
            <a:avLst/>
          </a:prstGeom>
          <a:noFill/>
          <a:ln w="12700">
            <a:solidFill>
              <a:srgbClr val="E7E0D2">
                <a:alpha val="5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4992624"/>
            <a:ext cx="12191695" cy="0"/>
          </a:xfrm>
          <a:prstGeom prst="line">
            <a:avLst/>
          </a:prstGeom>
          <a:noFill/>
          <a:ln w="12700">
            <a:solidFill>
              <a:srgbClr val="E7E0D2">
                <a:alpha val="5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0" y="5376672"/>
            <a:ext cx="12191695" cy="0"/>
          </a:xfrm>
          <a:prstGeom prst="line">
            <a:avLst/>
          </a:prstGeom>
          <a:noFill/>
          <a:ln w="12700">
            <a:solidFill>
              <a:srgbClr val="E7E0D2">
                <a:alpha val="5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0" y="5760720"/>
            <a:ext cx="12191695" cy="0"/>
          </a:xfrm>
          <a:prstGeom prst="line">
            <a:avLst/>
          </a:prstGeom>
          <a:noFill/>
          <a:ln w="12700">
            <a:solidFill>
              <a:srgbClr val="E7E0D2">
                <a:alpha val="55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0" y="6144768"/>
            <a:ext cx="12191695" cy="0"/>
          </a:xfrm>
          <a:prstGeom prst="line">
            <a:avLst/>
          </a:prstGeom>
          <a:noFill/>
          <a:ln w="12700">
            <a:solidFill>
              <a:srgbClr val="E7E0D2">
                <a:alpha val="55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0" y="6528816"/>
            <a:ext cx="12191695" cy="0"/>
          </a:xfrm>
          <a:prstGeom prst="line">
            <a:avLst/>
          </a:prstGeom>
          <a:noFill/>
          <a:ln w="12700">
            <a:solidFill>
              <a:srgbClr val="E7E0D2">
                <a:alpha val="55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94360" y="429768"/>
            <a:ext cx="164592" cy="164592"/>
          </a:xfrm>
          <a:prstGeom prst="rect">
            <a:avLst>
              <a:gd name="adj" fmla="val 16667"/>
            </a:avLst>
          </a:prstGeom>
          <a:solidFill>
            <a:srgbClr val="1F6F5B"/>
          </a:solidFill>
          <a:ln w="12700">
            <a:solidFill>
              <a:srgbClr val="1F6F5B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50392" y="3840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F6F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FIT</a:t>
            </a:r>
            <a:endParaRPr lang="en-US" sz="880" dirty="0"/>
          </a:p>
        </p:txBody>
      </p:sp>
      <p:sp>
        <p:nvSpPr>
          <p:cNvPr id="54" name="Text 52"/>
          <p:cNvSpPr/>
          <p:nvPr/>
        </p:nvSpPr>
        <p:spPr>
          <a:xfrm>
            <a:off x="594360" y="804672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1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app covers the full library lifecycle, not just the catalog.</a:t>
            </a:r>
            <a:endParaRPr lang="en-US" sz="2700" dirty="0"/>
          </a:p>
        </p:txBody>
      </p:sp>
      <p:sp>
        <p:nvSpPr>
          <p:cNvPr id="55" name="Text 53"/>
          <p:cNvSpPr/>
          <p:nvPr/>
        </p:nvSpPr>
        <p:spPr>
          <a:xfrm>
            <a:off x="612648" y="1700784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3706D"/>
                </a:solidFill>
              </a:rPr>
              <a:t>A member can discover, borrow, request, return, and monitor fines without leaving the product.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731520" y="3063240"/>
            <a:ext cx="2148840" cy="0"/>
          </a:xfrm>
          <a:prstGeom prst="line">
            <a:avLst/>
          </a:prstGeom>
          <a:noFill/>
          <a:ln w="12700">
            <a:solidFill>
              <a:srgbClr val="1F6F5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31520" y="22402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5B"/>
                </a:solidFill>
              </a:rPr>
              <a:t>01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731520" y="26060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11F"/>
                </a:solidFill>
              </a:rPr>
              <a:t>Discover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731520" y="3246120"/>
            <a:ext cx="210312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3706D"/>
                </a:solidFill>
              </a:rPr>
              <a:t>Search by title, author, genre, ISBN; browse A-Z and genre classifications.</a:t>
            </a:r>
            <a:endParaRPr lang="en-US" sz="1020" dirty="0"/>
          </a:p>
        </p:txBody>
      </p:sp>
      <p:sp>
        <p:nvSpPr>
          <p:cNvPr id="60" name="Shape 58"/>
          <p:cNvSpPr/>
          <p:nvPr/>
        </p:nvSpPr>
        <p:spPr>
          <a:xfrm>
            <a:off x="3520440" y="3063240"/>
            <a:ext cx="2148840" cy="0"/>
          </a:xfrm>
          <a:prstGeom prst="line">
            <a:avLst/>
          </a:prstGeom>
          <a:noFill/>
          <a:ln w="12700">
            <a:solidFill>
              <a:srgbClr val="1F6F5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520440" y="22402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5B"/>
                </a:solidFill>
              </a:rPr>
              <a:t>02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3520440" y="26060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11F"/>
                </a:solidFill>
              </a:rPr>
              <a:t>Borrow</a:t>
            </a:r>
            <a:endParaRPr lang="en-US" sz="1800" dirty="0"/>
          </a:p>
        </p:txBody>
      </p:sp>
      <p:sp>
        <p:nvSpPr>
          <p:cNvPr id="63" name="Text 61"/>
          <p:cNvSpPr/>
          <p:nvPr/>
        </p:nvSpPr>
        <p:spPr>
          <a:xfrm>
            <a:off x="3520440" y="3246120"/>
            <a:ext cx="210312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3706D"/>
                </a:solidFill>
              </a:rPr>
              <a:t>Issue books only when stock exists; prevent duplicate active checkouts.</a:t>
            </a:r>
            <a:endParaRPr lang="en-US" sz="1020" dirty="0"/>
          </a:p>
        </p:txBody>
      </p:sp>
      <p:sp>
        <p:nvSpPr>
          <p:cNvPr id="64" name="Shape 62"/>
          <p:cNvSpPr/>
          <p:nvPr/>
        </p:nvSpPr>
        <p:spPr>
          <a:xfrm>
            <a:off x="6309360" y="3063240"/>
            <a:ext cx="2148840" cy="0"/>
          </a:xfrm>
          <a:prstGeom prst="line">
            <a:avLst/>
          </a:prstGeom>
          <a:noFill/>
          <a:ln w="12700">
            <a:solidFill>
              <a:srgbClr val="1F6F5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309360" y="22402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5B"/>
                </a:solidFill>
              </a:rPr>
              <a:t>03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6309360" y="26060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11F"/>
                </a:solidFill>
              </a:rPr>
              <a:t>Manage</a:t>
            </a:r>
            <a:endParaRPr lang="en-US" sz="1800" dirty="0"/>
          </a:p>
        </p:txBody>
      </p:sp>
      <p:sp>
        <p:nvSpPr>
          <p:cNvPr id="67" name="Text 65"/>
          <p:cNvSpPr/>
          <p:nvPr/>
        </p:nvSpPr>
        <p:spPr>
          <a:xfrm>
            <a:off x="6309360" y="3246120"/>
            <a:ext cx="210312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3706D"/>
                </a:solidFill>
              </a:rPr>
              <a:t>Return tracking, due dates, automatic overdue fine calculation.</a:t>
            </a:r>
            <a:endParaRPr lang="en-US" sz="1020" dirty="0"/>
          </a:p>
        </p:txBody>
      </p:sp>
      <p:sp>
        <p:nvSpPr>
          <p:cNvPr id="68" name="Shape 66"/>
          <p:cNvSpPr/>
          <p:nvPr/>
        </p:nvSpPr>
        <p:spPr>
          <a:xfrm>
            <a:off x="9098280" y="3063240"/>
            <a:ext cx="2148840" cy="0"/>
          </a:xfrm>
          <a:prstGeom prst="line">
            <a:avLst/>
          </a:prstGeom>
          <a:noFill/>
          <a:ln w="12700">
            <a:solidFill>
              <a:srgbClr val="C47A2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098280" y="22402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5B"/>
                </a:solidFill>
              </a:rPr>
              <a:t>04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9098280" y="26060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11F"/>
                </a:solidFill>
              </a:rPr>
              <a:t>Notify</a:t>
            </a:r>
            <a:endParaRPr lang="en-US" sz="1800" dirty="0"/>
          </a:p>
        </p:txBody>
      </p:sp>
      <p:sp>
        <p:nvSpPr>
          <p:cNvPr id="71" name="Text 69"/>
          <p:cNvSpPr/>
          <p:nvPr/>
        </p:nvSpPr>
        <p:spPr>
          <a:xfrm>
            <a:off x="9098280" y="3246120"/>
            <a:ext cx="210312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3706D"/>
                </a:solidFill>
              </a:rPr>
              <a:t>Request review and availability alerts keep members in the loop.</a:t>
            </a:r>
            <a:endParaRPr lang="en-US" sz="1020" dirty="0"/>
          </a:p>
        </p:txBody>
      </p:sp>
      <p:sp>
        <p:nvSpPr>
          <p:cNvPr id="72" name="Shape 70"/>
          <p:cNvSpPr/>
          <p:nvPr/>
        </p:nvSpPr>
        <p:spPr>
          <a:xfrm>
            <a:off x="731520" y="4892040"/>
            <a:ext cx="1188720" cy="310896"/>
          </a:xfrm>
          <a:prstGeom prst="roundRect">
            <a:avLst>
              <a:gd name="adj" fmla="val 23529"/>
            </a:avLst>
          </a:prstGeom>
          <a:solidFill>
            <a:srgbClr val="D8EFE7"/>
          </a:solidFill>
          <a:ln w="12700">
            <a:solidFill>
              <a:srgbClr val="D8EFE7">
                <a:alpha val="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04672" y="4951476"/>
            <a:ext cx="1042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F6F5B"/>
                </a:solidFill>
              </a:rPr>
              <a:t>User journey</a:t>
            </a:r>
            <a:endParaRPr lang="en-US" sz="780" dirty="0"/>
          </a:p>
        </p:txBody>
      </p:sp>
      <p:sp>
        <p:nvSpPr>
          <p:cNvPr id="74" name="Text 72"/>
          <p:cNvSpPr/>
          <p:nvPr/>
        </p:nvSpPr>
        <p:spPr>
          <a:xfrm>
            <a:off x="2057400" y="489204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11F"/>
                </a:solidFill>
              </a:rPr>
              <a:t>The workflow is intentionally role-aware: members get self-service, while librarians and admins get operational controls.</a:t>
            </a:r>
            <a:endParaRPr lang="en-US" sz="1300" dirty="0"/>
          </a:p>
        </p:txBody>
      </p:sp>
      <p:sp>
        <p:nvSpPr>
          <p:cNvPr id="75" name="Text 73"/>
          <p:cNvSpPr/>
          <p:nvPr/>
        </p:nvSpPr>
        <p:spPr>
          <a:xfrm>
            <a:off x="594360" y="64465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3706D"/>
                </a:solidFill>
              </a:rPr>
              <a:t>Astra Library Management System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11018520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F6F5B"/>
                </a:solidFill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144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36192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20240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04288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88336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72384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56432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24528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08576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92624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76672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60720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44768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28816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12864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96912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65008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49056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33104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17152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985248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369296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753344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137392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521440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12700">
            <a:solidFill>
              <a:srgbClr val="E7E0D2">
                <a:alpha val="5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84048"/>
            <a:ext cx="12191695" cy="0"/>
          </a:xfrm>
          <a:prstGeom prst="line">
            <a:avLst/>
          </a:prstGeom>
          <a:noFill/>
          <a:ln w="12700">
            <a:solidFill>
              <a:srgbClr val="E7E0D2">
                <a:alpha val="5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768096"/>
            <a:ext cx="12191695" cy="0"/>
          </a:xfrm>
          <a:prstGeom prst="line">
            <a:avLst/>
          </a:prstGeom>
          <a:noFill/>
          <a:ln w="12700">
            <a:solidFill>
              <a:srgbClr val="E7E0D2">
                <a:alpha val="5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1152144"/>
            <a:ext cx="12191695" cy="0"/>
          </a:xfrm>
          <a:prstGeom prst="line">
            <a:avLst/>
          </a:prstGeom>
          <a:noFill/>
          <a:ln w="12700">
            <a:solidFill>
              <a:srgbClr val="E7E0D2">
                <a:alpha val="5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1536192"/>
            <a:ext cx="12191695" cy="0"/>
          </a:xfrm>
          <a:prstGeom prst="line">
            <a:avLst/>
          </a:prstGeom>
          <a:noFill/>
          <a:ln w="12700">
            <a:solidFill>
              <a:srgbClr val="E7E0D2">
                <a:alpha val="5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1920240"/>
            <a:ext cx="12191695" cy="0"/>
          </a:xfrm>
          <a:prstGeom prst="line">
            <a:avLst/>
          </a:prstGeom>
          <a:noFill/>
          <a:ln w="12700">
            <a:solidFill>
              <a:srgbClr val="E7E0D2">
                <a:alpha val="5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2304288"/>
            <a:ext cx="12191695" cy="0"/>
          </a:xfrm>
          <a:prstGeom prst="line">
            <a:avLst/>
          </a:prstGeom>
          <a:noFill/>
          <a:ln w="12700">
            <a:solidFill>
              <a:srgbClr val="E7E0D2">
                <a:alpha val="5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2688336"/>
            <a:ext cx="12191695" cy="0"/>
          </a:xfrm>
          <a:prstGeom prst="line">
            <a:avLst/>
          </a:prstGeom>
          <a:noFill/>
          <a:ln w="12700">
            <a:solidFill>
              <a:srgbClr val="E7E0D2">
                <a:alpha val="5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3072384"/>
            <a:ext cx="12191695" cy="0"/>
          </a:xfrm>
          <a:prstGeom prst="line">
            <a:avLst/>
          </a:prstGeom>
          <a:noFill/>
          <a:ln w="12700">
            <a:solidFill>
              <a:srgbClr val="E7E0D2">
                <a:alpha val="5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3456432"/>
            <a:ext cx="12191695" cy="0"/>
          </a:xfrm>
          <a:prstGeom prst="line">
            <a:avLst/>
          </a:prstGeom>
          <a:noFill/>
          <a:ln w="12700">
            <a:solidFill>
              <a:srgbClr val="E7E0D2">
                <a:alpha val="5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3840480"/>
            <a:ext cx="12191695" cy="0"/>
          </a:xfrm>
          <a:prstGeom prst="line">
            <a:avLst/>
          </a:prstGeom>
          <a:noFill/>
          <a:ln w="12700">
            <a:solidFill>
              <a:srgbClr val="E7E0D2">
                <a:alpha val="5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4224528"/>
            <a:ext cx="12191695" cy="0"/>
          </a:xfrm>
          <a:prstGeom prst="line">
            <a:avLst/>
          </a:prstGeom>
          <a:noFill/>
          <a:ln w="12700">
            <a:solidFill>
              <a:srgbClr val="E7E0D2">
                <a:alpha val="5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4608576"/>
            <a:ext cx="12191695" cy="0"/>
          </a:xfrm>
          <a:prstGeom prst="line">
            <a:avLst/>
          </a:prstGeom>
          <a:noFill/>
          <a:ln w="12700">
            <a:solidFill>
              <a:srgbClr val="E7E0D2">
                <a:alpha val="5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4992624"/>
            <a:ext cx="12191695" cy="0"/>
          </a:xfrm>
          <a:prstGeom prst="line">
            <a:avLst/>
          </a:prstGeom>
          <a:noFill/>
          <a:ln w="12700">
            <a:solidFill>
              <a:srgbClr val="E7E0D2">
                <a:alpha val="5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0" y="5376672"/>
            <a:ext cx="12191695" cy="0"/>
          </a:xfrm>
          <a:prstGeom prst="line">
            <a:avLst/>
          </a:prstGeom>
          <a:noFill/>
          <a:ln w="12700">
            <a:solidFill>
              <a:srgbClr val="E7E0D2">
                <a:alpha val="5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0" y="5760720"/>
            <a:ext cx="12191695" cy="0"/>
          </a:xfrm>
          <a:prstGeom prst="line">
            <a:avLst/>
          </a:prstGeom>
          <a:noFill/>
          <a:ln w="12700">
            <a:solidFill>
              <a:srgbClr val="E7E0D2">
                <a:alpha val="55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0" y="6144768"/>
            <a:ext cx="12191695" cy="0"/>
          </a:xfrm>
          <a:prstGeom prst="line">
            <a:avLst/>
          </a:prstGeom>
          <a:noFill/>
          <a:ln w="12700">
            <a:solidFill>
              <a:srgbClr val="E7E0D2">
                <a:alpha val="55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0" y="6528816"/>
            <a:ext cx="12191695" cy="0"/>
          </a:xfrm>
          <a:prstGeom prst="line">
            <a:avLst/>
          </a:prstGeom>
          <a:noFill/>
          <a:ln w="12700">
            <a:solidFill>
              <a:srgbClr val="E7E0D2">
                <a:alpha val="55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94360" y="429768"/>
            <a:ext cx="164592" cy="164592"/>
          </a:xfrm>
          <a:prstGeom prst="rect">
            <a:avLst>
              <a:gd name="adj" fmla="val 16667"/>
            </a:avLst>
          </a:prstGeom>
          <a:solidFill>
            <a:srgbClr val="1F6F5B"/>
          </a:solidFill>
          <a:ln w="12700">
            <a:solidFill>
              <a:srgbClr val="1F6F5B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50392" y="3840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F6F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ARCHITECTURE</a:t>
            </a:r>
            <a:endParaRPr lang="en-US" sz="880" dirty="0"/>
          </a:p>
        </p:txBody>
      </p:sp>
      <p:sp>
        <p:nvSpPr>
          <p:cNvPr id="54" name="Text 52"/>
          <p:cNvSpPr/>
          <p:nvPr/>
        </p:nvSpPr>
        <p:spPr>
          <a:xfrm>
            <a:off x="594360" y="804672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1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focused Django apps keep the project maintainable.</a:t>
            </a:r>
            <a:endParaRPr lang="en-US" sz="2700" dirty="0"/>
          </a:p>
        </p:txBody>
      </p:sp>
      <p:sp>
        <p:nvSpPr>
          <p:cNvPr id="55" name="Text 53"/>
          <p:cNvSpPr/>
          <p:nvPr/>
        </p:nvSpPr>
        <p:spPr>
          <a:xfrm>
            <a:off x="612648" y="1700784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3706D"/>
                </a:solidFill>
              </a:rPr>
              <a:t>Each app owns one domain boundary, which makes future extension easier.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868680" y="2331720"/>
            <a:ext cx="2057400" cy="420624"/>
          </a:xfrm>
          <a:prstGeom prst="roundRect">
            <a:avLst>
              <a:gd name="adj" fmla="val 10870"/>
            </a:avLst>
          </a:prstGeom>
          <a:solidFill>
            <a:srgbClr val="1F6F5B"/>
          </a:solidFill>
          <a:ln w="12700">
            <a:solidFill>
              <a:srgbClr val="1F6F5B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87552" y="2432304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accounts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3246120" y="23957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7211F"/>
                </a:solidFill>
              </a:rPr>
              <a:t>Profiles, roles, registration, permissions</a:t>
            </a:r>
            <a:endParaRPr lang="en-US" sz="1040" dirty="0"/>
          </a:p>
        </p:txBody>
      </p:sp>
      <p:sp>
        <p:nvSpPr>
          <p:cNvPr id="59" name="Shape 57"/>
          <p:cNvSpPr/>
          <p:nvPr/>
        </p:nvSpPr>
        <p:spPr>
          <a:xfrm>
            <a:off x="2926080" y="2542032"/>
            <a:ext cx="228600" cy="0"/>
          </a:xfrm>
          <a:prstGeom prst="line">
            <a:avLst/>
          </a:prstGeom>
          <a:noFill/>
          <a:ln w="12700">
            <a:solidFill>
              <a:srgbClr val="1F6F5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68680" y="3081528"/>
            <a:ext cx="2057400" cy="420624"/>
          </a:xfrm>
          <a:prstGeom prst="roundRect">
            <a:avLst>
              <a:gd name="adj" fmla="val 10870"/>
            </a:avLst>
          </a:prstGeom>
          <a:solidFill>
            <a:srgbClr val="285F8F"/>
          </a:solidFill>
          <a:ln w="12700">
            <a:solidFill>
              <a:srgbClr val="285F8F">
                <a:alpha val="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87552" y="3182112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catalog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3246120" y="31455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7211F"/>
                </a:solidFill>
              </a:rPr>
              <a:t>Book model, CRUD, search, API, eBook links</a:t>
            </a:r>
            <a:endParaRPr lang="en-US" sz="1040" dirty="0"/>
          </a:p>
        </p:txBody>
      </p:sp>
      <p:sp>
        <p:nvSpPr>
          <p:cNvPr id="63" name="Shape 61"/>
          <p:cNvSpPr/>
          <p:nvPr/>
        </p:nvSpPr>
        <p:spPr>
          <a:xfrm>
            <a:off x="2926080" y="3291840"/>
            <a:ext cx="228600" cy="0"/>
          </a:xfrm>
          <a:prstGeom prst="line">
            <a:avLst/>
          </a:prstGeom>
          <a:noFill/>
          <a:ln w="12700">
            <a:solidFill>
              <a:srgbClr val="285F8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68680" y="3831336"/>
            <a:ext cx="2057400" cy="420624"/>
          </a:xfrm>
          <a:prstGeom prst="roundRect">
            <a:avLst>
              <a:gd name="adj" fmla="val 10870"/>
            </a:avLst>
          </a:prstGeom>
          <a:solidFill>
            <a:srgbClr val="C47A28"/>
          </a:solidFill>
          <a:ln w="12700">
            <a:solidFill>
              <a:srgbClr val="C47A28">
                <a:alpha val="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87552" y="393192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circulation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3246120" y="38953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7211F"/>
                </a:solidFill>
              </a:rPr>
              <a:t>Borrow records, requests, notifications, fines</a:t>
            </a:r>
            <a:endParaRPr lang="en-US" sz="1040" dirty="0"/>
          </a:p>
        </p:txBody>
      </p:sp>
      <p:sp>
        <p:nvSpPr>
          <p:cNvPr id="67" name="Shape 65"/>
          <p:cNvSpPr/>
          <p:nvPr/>
        </p:nvSpPr>
        <p:spPr>
          <a:xfrm>
            <a:off x="2926080" y="4041648"/>
            <a:ext cx="228600" cy="0"/>
          </a:xfrm>
          <a:prstGeom prst="line">
            <a:avLst/>
          </a:prstGeom>
          <a:noFill/>
          <a:ln w="12700">
            <a:solidFill>
              <a:srgbClr val="C47A2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68680" y="4581144"/>
            <a:ext cx="2057400" cy="420624"/>
          </a:xfrm>
          <a:prstGeom prst="roundRect">
            <a:avLst>
              <a:gd name="adj" fmla="val 10870"/>
            </a:avLst>
          </a:prstGeom>
          <a:solidFill>
            <a:srgbClr val="B64B57"/>
          </a:solidFill>
          <a:ln w="12700">
            <a:solidFill>
              <a:srgbClr val="B64B57">
                <a:alpha val="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87552" y="468172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dashboards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3246120" y="46451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7211F"/>
                </a:solidFill>
              </a:rPr>
              <a:t>Member and admin analytics views</a:t>
            </a:r>
            <a:endParaRPr lang="en-US" sz="1040" dirty="0"/>
          </a:p>
        </p:txBody>
      </p:sp>
      <p:sp>
        <p:nvSpPr>
          <p:cNvPr id="71" name="Shape 69"/>
          <p:cNvSpPr/>
          <p:nvPr/>
        </p:nvSpPr>
        <p:spPr>
          <a:xfrm>
            <a:off x="2926080" y="4791456"/>
            <a:ext cx="228600" cy="0"/>
          </a:xfrm>
          <a:prstGeom prst="line">
            <a:avLst/>
          </a:prstGeom>
          <a:noFill/>
          <a:ln w="12700">
            <a:solidFill>
              <a:srgbClr val="B64B57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726680" y="2057400"/>
            <a:ext cx="960120" cy="713232"/>
          </a:xfrm>
          <a:prstGeom prst="chevron">
            <a:avLst/>
          </a:prstGeom>
          <a:solidFill>
            <a:srgbClr val="D8EFE7"/>
          </a:solidFill>
          <a:ln w="12700">
            <a:solidFill>
              <a:srgbClr val="D8EFE7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549640" y="2057400"/>
            <a:ext cx="960120" cy="713232"/>
          </a:xfrm>
          <a:prstGeom prst="chevron">
            <a:avLst/>
          </a:prstGeom>
          <a:solidFill>
            <a:srgbClr val="F7E4C9"/>
          </a:solidFill>
          <a:ln w="12700">
            <a:solidFill>
              <a:srgbClr val="F7E4C9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372600" y="2057400"/>
            <a:ext cx="960120" cy="713232"/>
          </a:xfrm>
          <a:prstGeom prst="chevron">
            <a:avLst/>
          </a:prstGeom>
          <a:solidFill>
            <a:srgbClr val="DFEAF3"/>
          </a:solidFill>
          <a:ln w="12700">
            <a:solidFill>
              <a:srgbClr val="DFEAF3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827264" y="29718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6F5B"/>
                </a:solidFill>
              </a:rPr>
              <a:t>Django ORM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8577072" y="29718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7A28"/>
                </a:solidFill>
              </a:rPr>
              <a:t>Views &amp; forms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9555480" y="29718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85F8F"/>
                </a:solidFill>
              </a:rPr>
              <a:t>Templates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7726680" y="379476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7211F"/>
                </a:solidFill>
              </a:rPr>
              <a:t>Environment-driven settings support SQLite for local development and PostgreSQL through DATABASE_URL.</a:t>
            </a:r>
            <a:endParaRPr lang="en-US" sz="1120" dirty="0"/>
          </a:p>
        </p:txBody>
      </p:sp>
      <p:sp>
        <p:nvSpPr>
          <p:cNvPr id="79" name="Text 77"/>
          <p:cNvSpPr/>
          <p:nvPr/>
        </p:nvSpPr>
        <p:spPr>
          <a:xfrm>
            <a:off x="594360" y="64465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3706D"/>
                </a:solidFill>
              </a:rPr>
              <a:t>Astra Library Management System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11018520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F6F5B"/>
                </a:solidFill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144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36192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20240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04288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88336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72384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56432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24528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08576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92624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76672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60720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44768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28816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12864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96912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65008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49056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33104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17152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985248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369296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753344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137392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521440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12700">
            <a:solidFill>
              <a:srgbClr val="E7E0D2">
                <a:alpha val="5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84048"/>
            <a:ext cx="12191695" cy="0"/>
          </a:xfrm>
          <a:prstGeom prst="line">
            <a:avLst/>
          </a:prstGeom>
          <a:noFill/>
          <a:ln w="12700">
            <a:solidFill>
              <a:srgbClr val="E7E0D2">
                <a:alpha val="5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768096"/>
            <a:ext cx="12191695" cy="0"/>
          </a:xfrm>
          <a:prstGeom prst="line">
            <a:avLst/>
          </a:prstGeom>
          <a:noFill/>
          <a:ln w="12700">
            <a:solidFill>
              <a:srgbClr val="E7E0D2">
                <a:alpha val="5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1152144"/>
            <a:ext cx="12191695" cy="0"/>
          </a:xfrm>
          <a:prstGeom prst="line">
            <a:avLst/>
          </a:prstGeom>
          <a:noFill/>
          <a:ln w="12700">
            <a:solidFill>
              <a:srgbClr val="E7E0D2">
                <a:alpha val="5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1536192"/>
            <a:ext cx="12191695" cy="0"/>
          </a:xfrm>
          <a:prstGeom prst="line">
            <a:avLst/>
          </a:prstGeom>
          <a:noFill/>
          <a:ln w="12700">
            <a:solidFill>
              <a:srgbClr val="E7E0D2">
                <a:alpha val="5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1920240"/>
            <a:ext cx="12191695" cy="0"/>
          </a:xfrm>
          <a:prstGeom prst="line">
            <a:avLst/>
          </a:prstGeom>
          <a:noFill/>
          <a:ln w="12700">
            <a:solidFill>
              <a:srgbClr val="E7E0D2">
                <a:alpha val="5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2304288"/>
            <a:ext cx="12191695" cy="0"/>
          </a:xfrm>
          <a:prstGeom prst="line">
            <a:avLst/>
          </a:prstGeom>
          <a:noFill/>
          <a:ln w="12700">
            <a:solidFill>
              <a:srgbClr val="E7E0D2">
                <a:alpha val="5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2688336"/>
            <a:ext cx="12191695" cy="0"/>
          </a:xfrm>
          <a:prstGeom prst="line">
            <a:avLst/>
          </a:prstGeom>
          <a:noFill/>
          <a:ln w="12700">
            <a:solidFill>
              <a:srgbClr val="E7E0D2">
                <a:alpha val="5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3072384"/>
            <a:ext cx="12191695" cy="0"/>
          </a:xfrm>
          <a:prstGeom prst="line">
            <a:avLst/>
          </a:prstGeom>
          <a:noFill/>
          <a:ln w="12700">
            <a:solidFill>
              <a:srgbClr val="E7E0D2">
                <a:alpha val="5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3456432"/>
            <a:ext cx="12191695" cy="0"/>
          </a:xfrm>
          <a:prstGeom prst="line">
            <a:avLst/>
          </a:prstGeom>
          <a:noFill/>
          <a:ln w="12700">
            <a:solidFill>
              <a:srgbClr val="E7E0D2">
                <a:alpha val="5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3840480"/>
            <a:ext cx="12191695" cy="0"/>
          </a:xfrm>
          <a:prstGeom prst="line">
            <a:avLst/>
          </a:prstGeom>
          <a:noFill/>
          <a:ln w="12700">
            <a:solidFill>
              <a:srgbClr val="E7E0D2">
                <a:alpha val="5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4224528"/>
            <a:ext cx="12191695" cy="0"/>
          </a:xfrm>
          <a:prstGeom prst="line">
            <a:avLst/>
          </a:prstGeom>
          <a:noFill/>
          <a:ln w="12700">
            <a:solidFill>
              <a:srgbClr val="E7E0D2">
                <a:alpha val="5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4608576"/>
            <a:ext cx="12191695" cy="0"/>
          </a:xfrm>
          <a:prstGeom prst="line">
            <a:avLst/>
          </a:prstGeom>
          <a:noFill/>
          <a:ln w="12700">
            <a:solidFill>
              <a:srgbClr val="E7E0D2">
                <a:alpha val="5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4992624"/>
            <a:ext cx="12191695" cy="0"/>
          </a:xfrm>
          <a:prstGeom prst="line">
            <a:avLst/>
          </a:prstGeom>
          <a:noFill/>
          <a:ln w="12700">
            <a:solidFill>
              <a:srgbClr val="E7E0D2">
                <a:alpha val="5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0" y="5376672"/>
            <a:ext cx="12191695" cy="0"/>
          </a:xfrm>
          <a:prstGeom prst="line">
            <a:avLst/>
          </a:prstGeom>
          <a:noFill/>
          <a:ln w="12700">
            <a:solidFill>
              <a:srgbClr val="E7E0D2">
                <a:alpha val="5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0" y="5760720"/>
            <a:ext cx="12191695" cy="0"/>
          </a:xfrm>
          <a:prstGeom prst="line">
            <a:avLst/>
          </a:prstGeom>
          <a:noFill/>
          <a:ln w="12700">
            <a:solidFill>
              <a:srgbClr val="E7E0D2">
                <a:alpha val="55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0" y="6144768"/>
            <a:ext cx="12191695" cy="0"/>
          </a:xfrm>
          <a:prstGeom prst="line">
            <a:avLst/>
          </a:prstGeom>
          <a:noFill/>
          <a:ln w="12700">
            <a:solidFill>
              <a:srgbClr val="E7E0D2">
                <a:alpha val="55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0" y="6528816"/>
            <a:ext cx="12191695" cy="0"/>
          </a:xfrm>
          <a:prstGeom prst="line">
            <a:avLst/>
          </a:prstGeom>
          <a:noFill/>
          <a:ln w="12700">
            <a:solidFill>
              <a:srgbClr val="E7E0D2">
                <a:alpha val="55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94360" y="429768"/>
            <a:ext cx="164592" cy="164592"/>
          </a:xfrm>
          <a:prstGeom prst="rect">
            <a:avLst>
              <a:gd name="adj" fmla="val 16667"/>
            </a:avLst>
          </a:prstGeom>
          <a:solidFill>
            <a:srgbClr val="1F6F5B"/>
          </a:solidFill>
          <a:ln w="12700">
            <a:solidFill>
              <a:srgbClr val="1F6F5B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50392" y="3840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F6F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MATRIX</a:t>
            </a:r>
            <a:endParaRPr lang="en-US" sz="880" dirty="0"/>
          </a:p>
        </p:txBody>
      </p:sp>
      <p:sp>
        <p:nvSpPr>
          <p:cNvPr id="54" name="Text 52"/>
          <p:cNvSpPr/>
          <p:nvPr/>
        </p:nvSpPr>
        <p:spPr>
          <a:xfrm>
            <a:off x="594360" y="804672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1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requirements are implemented end-to-end.</a:t>
            </a:r>
            <a:endParaRPr lang="en-US" sz="2700" dirty="0"/>
          </a:p>
        </p:txBody>
      </p:sp>
      <p:sp>
        <p:nvSpPr>
          <p:cNvPr id="55" name="Text 53"/>
          <p:cNvSpPr/>
          <p:nvPr/>
        </p:nvSpPr>
        <p:spPr>
          <a:xfrm>
            <a:off x="612648" y="1700784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3706D"/>
                </a:solidFill>
              </a:rPr>
              <a:t>The application maps cleanly to the requested feature list.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868680" y="205740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7211F"/>
                </a:solidFill>
              </a:rPr>
              <a:t>Authentication</a:t>
            </a:r>
            <a:endParaRPr lang="en-US" sz="940" dirty="0"/>
          </a:p>
        </p:txBody>
      </p:sp>
      <p:sp>
        <p:nvSpPr>
          <p:cNvPr id="57" name="Shape 55"/>
          <p:cNvSpPr/>
          <p:nvPr/>
        </p:nvSpPr>
        <p:spPr>
          <a:xfrm>
            <a:off x="2971800" y="2084832"/>
            <a:ext cx="3931920" cy="128016"/>
          </a:xfrm>
          <a:prstGeom prst="rect">
            <a:avLst/>
          </a:prstGeom>
          <a:solidFill>
            <a:srgbClr val="E5DED0"/>
          </a:solidFill>
          <a:ln w="12700">
            <a:solidFill>
              <a:srgbClr val="E5DED0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971800" y="2084832"/>
            <a:ext cx="3931920" cy="128016"/>
          </a:xfrm>
          <a:prstGeom prst="rect">
            <a:avLst/>
          </a:prstGeom>
          <a:solidFill>
            <a:srgbClr val="1F6F5B"/>
          </a:solidFill>
          <a:ln w="12700">
            <a:solidFill>
              <a:srgbClr val="1F6F5B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114032" y="203911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6F5B"/>
                </a:solidFill>
              </a:rPr>
              <a:t>100%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7818120" y="203911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3706D"/>
                </a:solidFill>
              </a:rPr>
              <a:t>roles + password reset</a:t>
            </a:r>
            <a:endParaRPr lang="en-US" sz="830" dirty="0"/>
          </a:p>
        </p:txBody>
      </p:sp>
      <p:sp>
        <p:nvSpPr>
          <p:cNvPr id="61" name="Text 59"/>
          <p:cNvSpPr/>
          <p:nvPr/>
        </p:nvSpPr>
        <p:spPr>
          <a:xfrm>
            <a:off x="868680" y="248716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7211F"/>
                </a:solidFill>
              </a:rPr>
              <a:t>Book management</a:t>
            </a:r>
            <a:endParaRPr lang="en-US" sz="940" dirty="0"/>
          </a:p>
        </p:txBody>
      </p:sp>
      <p:sp>
        <p:nvSpPr>
          <p:cNvPr id="62" name="Shape 60"/>
          <p:cNvSpPr/>
          <p:nvPr/>
        </p:nvSpPr>
        <p:spPr>
          <a:xfrm>
            <a:off x="2971800" y="2514600"/>
            <a:ext cx="3931920" cy="128016"/>
          </a:xfrm>
          <a:prstGeom prst="rect">
            <a:avLst/>
          </a:prstGeom>
          <a:solidFill>
            <a:srgbClr val="E5DED0"/>
          </a:solidFill>
          <a:ln w="12700">
            <a:solidFill>
              <a:srgbClr val="E5DED0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971800" y="2514600"/>
            <a:ext cx="3931920" cy="128016"/>
          </a:xfrm>
          <a:prstGeom prst="rect">
            <a:avLst/>
          </a:prstGeom>
          <a:solidFill>
            <a:srgbClr val="1F6F5B"/>
          </a:solidFill>
          <a:ln w="12700">
            <a:solidFill>
              <a:srgbClr val="1F6F5B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114032" y="246888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6F5B"/>
                </a:solidFill>
              </a:rPr>
              <a:t>100%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7818120" y="246888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3706D"/>
                </a:solidFill>
              </a:rPr>
              <a:t>CRUD + admin</a:t>
            </a:r>
            <a:endParaRPr lang="en-US" sz="830" dirty="0"/>
          </a:p>
        </p:txBody>
      </p:sp>
      <p:sp>
        <p:nvSpPr>
          <p:cNvPr id="66" name="Text 64"/>
          <p:cNvSpPr/>
          <p:nvPr/>
        </p:nvSpPr>
        <p:spPr>
          <a:xfrm>
            <a:off x="868680" y="291693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7211F"/>
                </a:solidFill>
              </a:rPr>
              <a:t>Search &amp; filters</a:t>
            </a:r>
            <a:endParaRPr lang="en-US" sz="940" dirty="0"/>
          </a:p>
        </p:txBody>
      </p:sp>
      <p:sp>
        <p:nvSpPr>
          <p:cNvPr id="67" name="Shape 65"/>
          <p:cNvSpPr/>
          <p:nvPr/>
        </p:nvSpPr>
        <p:spPr>
          <a:xfrm>
            <a:off x="2971800" y="2944368"/>
            <a:ext cx="3931920" cy="128016"/>
          </a:xfrm>
          <a:prstGeom prst="rect">
            <a:avLst/>
          </a:prstGeom>
          <a:solidFill>
            <a:srgbClr val="E5DED0"/>
          </a:solidFill>
          <a:ln w="12700">
            <a:solidFill>
              <a:srgbClr val="E5DED0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971800" y="2944368"/>
            <a:ext cx="3931920" cy="128016"/>
          </a:xfrm>
          <a:prstGeom prst="rect">
            <a:avLst/>
          </a:prstGeom>
          <a:solidFill>
            <a:srgbClr val="1F6F5B"/>
          </a:solidFill>
          <a:ln w="12700">
            <a:solidFill>
              <a:srgbClr val="1F6F5B">
                <a:alpha val="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114032" y="289864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6F5B"/>
                </a:solidFill>
              </a:rPr>
              <a:t>100%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7818120" y="28986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3706D"/>
                </a:solidFill>
              </a:rPr>
              <a:t>query + sort + pagination</a:t>
            </a:r>
            <a:endParaRPr lang="en-US" sz="830" dirty="0"/>
          </a:p>
        </p:txBody>
      </p:sp>
      <p:sp>
        <p:nvSpPr>
          <p:cNvPr id="71" name="Text 69"/>
          <p:cNvSpPr/>
          <p:nvPr/>
        </p:nvSpPr>
        <p:spPr>
          <a:xfrm>
            <a:off x="868680" y="33467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7211F"/>
                </a:solidFill>
              </a:rPr>
              <a:t>Issue / return</a:t>
            </a:r>
            <a:endParaRPr lang="en-US" sz="940" dirty="0"/>
          </a:p>
        </p:txBody>
      </p:sp>
      <p:sp>
        <p:nvSpPr>
          <p:cNvPr id="72" name="Shape 70"/>
          <p:cNvSpPr/>
          <p:nvPr/>
        </p:nvSpPr>
        <p:spPr>
          <a:xfrm>
            <a:off x="2971800" y="3374136"/>
            <a:ext cx="3931920" cy="128016"/>
          </a:xfrm>
          <a:prstGeom prst="rect">
            <a:avLst/>
          </a:prstGeom>
          <a:solidFill>
            <a:srgbClr val="E5DED0"/>
          </a:solidFill>
          <a:ln w="12700">
            <a:solidFill>
              <a:srgbClr val="E5DED0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971800" y="3374136"/>
            <a:ext cx="3931920" cy="128016"/>
          </a:xfrm>
          <a:prstGeom prst="rect">
            <a:avLst/>
          </a:prstGeom>
          <a:solidFill>
            <a:srgbClr val="1F6F5B"/>
          </a:solidFill>
          <a:ln w="12700">
            <a:solidFill>
              <a:srgbClr val="1F6F5B">
                <a:alpha val="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114032" y="33284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6F5B"/>
                </a:solidFill>
              </a:rPr>
              <a:t>100%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7818120" y="332841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3706D"/>
                </a:solidFill>
              </a:rPr>
              <a:t>stock safeguards</a:t>
            </a:r>
            <a:endParaRPr lang="en-US" sz="830" dirty="0"/>
          </a:p>
        </p:txBody>
      </p:sp>
      <p:sp>
        <p:nvSpPr>
          <p:cNvPr id="76" name="Text 74"/>
          <p:cNvSpPr/>
          <p:nvPr/>
        </p:nvSpPr>
        <p:spPr>
          <a:xfrm>
            <a:off x="868680" y="377647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7211F"/>
                </a:solidFill>
              </a:rPr>
              <a:t>Fine management</a:t>
            </a:r>
            <a:endParaRPr lang="en-US" sz="940" dirty="0"/>
          </a:p>
        </p:txBody>
      </p:sp>
      <p:sp>
        <p:nvSpPr>
          <p:cNvPr id="77" name="Shape 75"/>
          <p:cNvSpPr/>
          <p:nvPr/>
        </p:nvSpPr>
        <p:spPr>
          <a:xfrm>
            <a:off x="2971800" y="3803904"/>
            <a:ext cx="3931920" cy="128016"/>
          </a:xfrm>
          <a:prstGeom prst="rect">
            <a:avLst/>
          </a:prstGeom>
          <a:solidFill>
            <a:srgbClr val="E5DED0"/>
          </a:solidFill>
          <a:ln w="12700">
            <a:solidFill>
              <a:srgbClr val="E5DED0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971800" y="3803904"/>
            <a:ext cx="3931920" cy="128016"/>
          </a:xfrm>
          <a:prstGeom prst="rect">
            <a:avLst/>
          </a:prstGeom>
          <a:solidFill>
            <a:srgbClr val="1F6F5B"/>
          </a:solidFill>
          <a:ln w="12700">
            <a:solidFill>
              <a:srgbClr val="1F6F5B">
                <a:alpha val="0"/>
              </a:srgbClr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114032" y="375818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6F5B"/>
                </a:solidFill>
              </a:rPr>
              <a:t>100%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7818120" y="375818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3706D"/>
                </a:solidFill>
              </a:rPr>
              <a:t>configurable daily rate</a:t>
            </a:r>
            <a:endParaRPr lang="en-US" sz="830" dirty="0"/>
          </a:p>
        </p:txBody>
      </p:sp>
      <p:sp>
        <p:nvSpPr>
          <p:cNvPr id="81" name="Text 79"/>
          <p:cNvSpPr/>
          <p:nvPr/>
        </p:nvSpPr>
        <p:spPr>
          <a:xfrm>
            <a:off x="868680" y="420624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7211F"/>
                </a:solidFill>
              </a:rPr>
              <a:t>Requests &amp; alerts</a:t>
            </a:r>
            <a:endParaRPr lang="en-US" sz="940" dirty="0"/>
          </a:p>
        </p:txBody>
      </p:sp>
      <p:sp>
        <p:nvSpPr>
          <p:cNvPr id="82" name="Shape 80"/>
          <p:cNvSpPr/>
          <p:nvPr/>
        </p:nvSpPr>
        <p:spPr>
          <a:xfrm>
            <a:off x="2971800" y="4233672"/>
            <a:ext cx="3931920" cy="128016"/>
          </a:xfrm>
          <a:prstGeom prst="rect">
            <a:avLst/>
          </a:prstGeom>
          <a:solidFill>
            <a:srgbClr val="E5DED0"/>
          </a:solidFill>
          <a:ln w="12700">
            <a:solidFill>
              <a:srgbClr val="E5DED0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971800" y="4233672"/>
            <a:ext cx="3931920" cy="128016"/>
          </a:xfrm>
          <a:prstGeom prst="rect">
            <a:avLst/>
          </a:prstGeom>
          <a:solidFill>
            <a:srgbClr val="1F6F5B"/>
          </a:solidFill>
          <a:ln w="12700">
            <a:solidFill>
              <a:srgbClr val="1F6F5B">
                <a:alpha val="0"/>
              </a:srgbClr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114032" y="4187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6F5B"/>
                </a:solidFill>
              </a:rPr>
              <a:t>100%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7818120" y="418795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3706D"/>
                </a:solidFill>
              </a:rPr>
              <a:t>review + notify</a:t>
            </a:r>
            <a:endParaRPr lang="en-US" sz="830" dirty="0"/>
          </a:p>
        </p:txBody>
      </p:sp>
      <p:sp>
        <p:nvSpPr>
          <p:cNvPr id="86" name="Text 84"/>
          <p:cNvSpPr/>
          <p:nvPr/>
        </p:nvSpPr>
        <p:spPr>
          <a:xfrm>
            <a:off x="868680" y="463600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7211F"/>
                </a:solidFill>
              </a:rPr>
              <a:t>Recommendations</a:t>
            </a:r>
            <a:endParaRPr lang="en-US" sz="940" dirty="0"/>
          </a:p>
        </p:txBody>
      </p:sp>
      <p:sp>
        <p:nvSpPr>
          <p:cNvPr id="87" name="Shape 85"/>
          <p:cNvSpPr/>
          <p:nvPr/>
        </p:nvSpPr>
        <p:spPr>
          <a:xfrm>
            <a:off x="2971800" y="4663440"/>
            <a:ext cx="3931920" cy="128016"/>
          </a:xfrm>
          <a:prstGeom prst="rect">
            <a:avLst/>
          </a:prstGeom>
          <a:solidFill>
            <a:srgbClr val="E5DED0"/>
          </a:solidFill>
          <a:ln w="12700">
            <a:solidFill>
              <a:srgbClr val="E5DED0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2971800" y="4663440"/>
            <a:ext cx="3538728" cy="128016"/>
          </a:xfrm>
          <a:prstGeom prst="rect">
            <a:avLst/>
          </a:prstGeom>
          <a:solidFill>
            <a:srgbClr val="C47A28"/>
          </a:solidFill>
          <a:ln w="12700">
            <a:solidFill>
              <a:srgbClr val="C47A28">
                <a:alpha val="0"/>
              </a:srgbClr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114032" y="46177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47A28"/>
                </a:solidFill>
              </a:rPr>
              <a:t>90%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7818120" y="461772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3706D"/>
                </a:solidFill>
              </a:rPr>
              <a:t>rule-based engine</a:t>
            </a:r>
            <a:endParaRPr lang="en-US" sz="830" dirty="0"/>
          </a:p>
        </p:txBody>
      </p:sp>
      <p:sp>
        <p:nvSpPr>
          <p:cNvPr id="91" name="Text 89"/>
          <p:cNvSpPr/>
          <p:nvPr/>
        </p:nvSpPr>
        <p:spPr>
          <a:xfrm>
            <a:off x="868680" y="506577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7211F"/>
                </a:solidFill>
              </a:rPr>
              <a:t>API / Docker</a:t>
            </a:r>
            <a:endParaRPr lang="en-US" sz="940" dirty="0"/>
          </a:p>
        </p:txBody>
      </p:sp>
      <p:sp>
        <p:nvSpPr>
          <p:cNvPr id="92" name="Shape 90"/>
          <p:cNvSpPr/>
          <p:nvPr/>
        </p:nvSpPr>
        <p:spPr>
          <a:xfrm>
            <a:off x="2971800" y="5093208"/>
            <a:ext cx="3931920" cy="128016"/>
          </a:xfrm>
          <a:prstGeom prst="rect">
            <a:avLst/>
          </a:prstGeom>
          <a:solidFill>
            <a:srgbClr val="E5DED0"/>
          </a:solidFill>
          <a:ln w="12700">
            <a:solidFill>
              <a:srgbClr val="E5DED0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2971800" y="5093208"/>
            <a:ext cx="3342132" cy="128016"/>
          </a:xfrm>
          <a:prstGeom prst="rect">
            <a:avLst/>
          </a:prstGeom>
          <a:solidFill>
            <a:srgbClr val="C47A28"/>
          </a:solidFill>
          <a:ln w="12700">
            <a:solidFill>
              <a:srgbClr val="C47A28">
                <a:alpha val="0"/>
              </a:srgbClr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114032" y="50474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47A28"/>
                </a:solidFill>
              </a:rPr>
              <a:t>85%</a:t>
            </a:r>
            <a:endParaRPr lang="en-US" sz="800" dirty="0"/>
          </a:p>
        </p:txBody>
      </p:sp>
      <p:sp>
        <p:nvSpPr>
          <p:cNvPr id="95" name="Text 93"/>
          <p:cNvSpPr/>
          <p:nvPr/>
        </p:nvSpPr>
        <p:spPr>
          <a:xfrm>
            <a:off x="7818120" y="504748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3706D"/>
                </a:solidFill>
              </a:rPr>
              <a:t>bonus support</a:t>
            </a:r>
            <a:endParaRPr lang="en-US" sz="830" dirty="0"/>
          </a:p>
        </p:txBody>
      </p:sp>
      <p:sp>
        <p:nvSpPr>
          <p:cNvPr id="96" name="Shape 94"/>
          <p:cNvSpPr/>
          <p:nvPr/>
        </p:nvSpPr>
        <p:spPr>
          <a:xfrm>
            <a:off x="868680" y="5532120"/>
            <a:ext cx="9692640" cy="411480"/>
          </a:xfrm>
          <a:prstGeom prst="roundRect">
            <a:avLst>
              <a:gd name="adj" fmla="val 11111"/>
            </a:avLst>
          </a:prstGeom>
          <a:solidFill>
            <a:srgbClr val="D8EFE7"/>
          </a:solidFill>
          <a:ln w="12700">
            <a:solidFill>
              <a:srgbClr val="D8EFE7">
                <a:alpha val="0"/>
              </a:srgbClr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051560" y="5632704"/>
            <a:ext cx="9098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F6F5B"/>
                </a:solidFill>
              </a:rPr>
              <a:t>The only intentionally lightweight item is recommendations: it uses transparent borrowing-history rules instead of opaque ML.</a:t>
            </a:r>
            <a:endParaRPr lang="en-US" sz="940" dirty="0"/>
          </a:p>
        </p:txBody>
      </p:sp>
      <p:sp>
        <p:nvSpPr>
          <p:cNvPr id="98" name="Text 96"/>
          <p:cNvSpPr/>
          <p:nvPr/>
        </p:nvSpPr>
        <p:spPr>
          <a:xfrm>
            <a:off x="594360" y="64465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3706D"/>
                </a:solidFill>
              </a:rPr>
              <a:t>Astra Library Management System</a:t>
            </a:r>
            <a:endParaRPr lang="en-US" sz="750" dirty="0"/>
          </a:p>
        </p:txBody>
      </p:sp>
      <p:sp>
        <p:nvSpPr>
          <p:cNvPr id="99" name="Text 97"/>
          <p:cNvSpPr/>
          <p:nvPr/>
        </p:nvSpPr>
        <p:spPr>
          <a:xfrm>
            <a:off x="11018520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F6F5B"/>
                </a:solidFill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230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57200"/>
            <a:ext cx="164592" cy="164592"/>
          </a:xfrm>
          <a:prstGeom prst="rect">
            <a:avLst>
              <a:gd name="adj" fmla="val 16667"/>
            </a:avLst>
          </a:prstGeom>
          <a:solidFill>
            <a:srgbClr val="C47A28"/>
          </a:solidFill>
          <a:ln w="12700">
            <a:solidFill>
              <a:srgbClr val="C47A2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" y="4114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7E4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EXPERIENCE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94360" y="804672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frontend was designed as a library product, not a default admin skin.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12648" y="1700784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8D2C6"/>
                </a:solidFill>
              </a:rPr>
              <a:t>Responsive layouts, animated cards, dashboard panels, and generated covers give the project a polished identity.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77240" y="2743200"/>
            <a:ext cx="2148840" cy="1691640"/>
          </a:xfrm>
          <a:prstGeom prst="roundRect">
            <a:avLst>
              <a:gd name="adj" fmla="val 4324"/>
            </a:avLst>
          </a:prstGeom>
          <a:solidFill>
            <a:srgbClr val="2B3A36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8408" y="2971800"/>
            <a:ext cx="457200" cy="1097280"/>
          </a:xfrm>
          <a:prstGeom prst="rect">
            <a:avLst/>
          </a:prstGeom>
          <a:solidFill>
            <a:srgbClr val="1F6F5B"/>
          </a:solidFill>
          <a:ln w="12700">
            <a:solidFill>
              <a:srgbClr val="1F6F5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00200" y="29992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Home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00200" y="3401568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D8D2C6"/>
                </a:solidFill>
              </a:rPr>
              <a:t>featured shelves + categories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3566160" y="2743200"/>
            <a:ext cx="2148840" cy="1691640"/>
          </a:xfrm>
          <a:prstGeom prst="roundRect">
            <a:avLst>
              <a:gd name="adj" fmla="val 4324"/>
            </a:avLst>
          </a:prstGeom>
          <a:solidFill>
            <a:srgbClr val="3A4E49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67328" y="2971800"/>
            <a:ext cx="457200" cy="1097280"/>
          </a:xfrm>
          <a:prstGeom prst="rect">
            <a:avLst/>
          </a:prstGeom>
          <a:solidFill>
            <a:srgbClr val="C47A28"/>
          </a:solidFill>
          <a:ln w="12700">
            <a:solidFill>
              <a:srgbClr val="C47A2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0" y="29992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Catalog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9120" y="3401568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D8D2C6"/>
                </a:solidFill>
              </a:rPr>
              <a:t>filters + searchable book cards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6355080" y="2743200"/>
            <a:ext cx="2148840" cy="1691640"/>
          </a:xfrm>
          <a:prstGeom prst="roundRect">
            <a:avLst>
              <a:gd name="adj" fmla="val 4324"/>
            </a:avLst>
          </a:prstGeom>
          <a:solidFill>
            <a:srgbClr val="2B3A36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56248" y="2971800"/>
            <a:ext cx="457200" cy="1097280"/>
          </a:xfrm>
          <a:prstGeom prst="rect">
            <a:avLst/>
          </a:prstGeom>
          <a:solidFill>
            <a:srgbClr val="285F8F"/>
          </a:solidFill>
          <a:ln w="12700">
            <a:solidFill>
              <a:srgbClr val="285F8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78040" y="29992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Book detail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178040" y="3401568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D8D2C6"/>
                </a:solidFill>
              </a:rPr>
              <a:t>stock, issue, request, eBook links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9144000" y="2743200"/>
            <a:ext cx="2148840" cy="1691640"/>
          </a:xfrm>
          <a:prstGeom prst="roundRect">
            <a:avLst>
              <a:gd name="adj" fmla="val 4324"/>
            </a:avLst>
          </a:prstGeom>
          <a:solidFill>
            <a:srgbClr val="3A4E49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345168" y="2971800"/>
            <a:ext cx="457200" cy="1097280"/>
          </a:xfrm>
          <a:prstGeom prst="rect">
            <a:avLst/>
          </a:prstGeom>
          <a:solidFill>
            <a:srgbClr val="B64B57"/>
          </a:solidFill>
          <a:ln w="12700">
            <a:solidFill>
              <a:srgbClr val="B64B57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66960" y="29992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Dashboard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966960" y="3401568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D8D2C6"/>
                </a:solidFill>
              </a:rPr>
              <a:t>loans, fines, recommendations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749808" y="5074920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7E4C9"/>
                </a:solidFill>
              </a:rPr>
              <a:t>Design system cues: warm paper, ink text, green/amber/blue accents, card-hover motion, mobile navigation, and accessible contrast.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" y="64465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D2C6"/>
                </a:solidFill>
              </a:rPr>
              <a:t>Astra Library Management System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1018520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7E4C9"/>
                </a:solidFill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144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36192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20240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04288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88336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72384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56432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24528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08576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92624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76672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60720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44768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28816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12864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96912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65008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49056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33104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17152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985248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369296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753344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137392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521440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12700">
            <a:solidFill>
              <a:srgbClr val="E7E0D2">
                <a:alpha val="5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84048"/>
            <a:ext cx="12191695" cy="0"/>
          </a:xfrm>
          <a:prstGeom prst="line">
            <a:avLst/>
          </a:prstGeom>
          <a:noFill/>
          <a:ln w="12700">
            <a:solidFill>
              <a:srgbClr val="E7E0D2">
                <a:alpha val="5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768096"/>
            <a:ext cx="12191695" cy="0"/>
          </a:xfrm>
          <a:prstGeom prst="line">
            <a:avLst/>
          </a:prstGeom>
          <a:noFill/>
          <a:ln w="12700">
            <a:solidFill>
              <a:srgbClr val="E7E0D2">
                <a:alpha val="5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1152144"/>
            <a:ext cx="12191695" cy="0"/>
          </a:xfrm>
          <a:prstGeom prst="line">
            <a:avLst/>
          </a:prstGeom>
          <a:noFill/>
          <a:ln w="12700">
            <a:solidFill>
              <a:srgbClr val="E7E0D2">
                <a:alpha val="5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1536192"/>
            <a:ext cx="12191695" cy="0"/>
          </a:xfrm>
          <a:prstGeom prst="line">
            <a:avLst/>
          </a:prstGeom>
          <a:noFill/>
          <a:ln w="12700">
            <a:solidFill>
              <a:srgbClr val="E7E0D2">
                <a:alpha val="5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1920240"/>
            <a:ext cx="12191695" cy="0"/>
          </a:xfrm>
          <a:prstGeom prst="line">
            <a:avLst/>
          </a:prstGeom>
          <a:noFill/>
          <a:ln w="12700">
            <a:solidFill>
              <a:srgbClr val="E7E0D2">
                <a:alpha val="5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2304288"/>
            <a:ext cx="12191695" cy="0"/>
          </a:xfrm>
          <a:prstGeom prst="line">
            <a:avLst/>
          </a:prstGeom>
          <a:noFill/>
          <a:ln w="12700">
            <a:solidFill>
              <a:srgbClr val="E7E0D2">
                <a:alpha val="5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2688336"/>
            <a:ext cx="12191695" cy="0"/>
          </a:xfrm>
          <a:prstGeom prst="line">
            <a:avLst/>
          </a:prstGeom>
          <a:noFill/>
          <a:ln w="12700">
            <a:solidFill>
              <a:srgbClr val="E7E0D2">
                <a:alpha val="5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3072384"/>
            <a:ext cx="12191695" cy="0"/>
          </a:xfrm>
          <a:prstGeom prst="line">
            <a:avLst/>
          </a:prstGeom>
          <a:noFill/>
          <a:ln w="12700">
            <a:solidFill>
              <a:srgbClr val="E7E0D2">
                <a:alpha val="5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3456432"/>
            <a:ext cx="12191695" cy="0"/>
          </a:xfrm>
          <a:prstGeom prst="line">
            <a:avLst/>
          </a:prstGeom>
          <a:noFill/>
          <a:ln w="12700">
            <a:solidFill>
              <a:srgbClr val="E7E0D2">
                <a:alpha val="5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3840480"/>
            <a:ext cx="12191695" cy="0"/>
          </a:xfrm>
          <a:prstGeom prst="line">
            <a:avLst/>
          </a:prstGeom>
          <a:noFill/>
          <a:ln w="12700">
            <a:solidFill>
              <a:srgbClr val="E7E0D2">
                <a:alpha val="5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4224528"/>
            <a:ext cx="12191695" cy="0"/>
          </a:xfrm>
          <a:prstGeom prst="line">
            <a:avLst/>
          </a:prstGeom>
          <a:noFill/>
          <a:ln w="12700">
            <a:solidFill>
              <a:srgbClr val="E7E0D2">
                <a:alpha val="5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4608576"/>
            <a:ext cx="12191695" cy="0"/>
          </a:xfrm>
          <a:prstGeom prst="line">
            <a:avLst/>
          </a:prstGeom>
          <a:noFill/>
          <a:ln w="12700">
            <a:solidFill>
              <a:srgbClr val="E7E0D2">
                <a:alpha val="5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4992624"/>
            <a:ext cx="12191695" cy="0"/>
          </a:xfrm>
          <a:prstGeom prst="line">
            <a:avLst/>
          </a:prstGeom>
          <a:noFill/>
          <a:ln w="12700">
            <a:solidFill>
              <a:srgbClr val="E7E0D2">
                <a:alpha val="5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0" y="5376672"/>
            <a:ext cx="12191695" cy="0"/>
          </a:xfrm>
          <a:prstGeom prst="line">
            <a:avLst/>
          </a:prstGeom>
          <a:noFill/>
          <a:ln w="12700">
            <a:solidFill>
              <a:srgbClr val="E7E0D2">
                <a:alpha val="5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0" y="5760720"/>
            <a:ext cx="12191695" cy="0"/>
          </a:xfrm>
          <a:prstGeom prst="line">
            <a:avLst/>
          </a:prstGeom>
          <a:noFill/>
          <a:ln w="12700">
            <a:solidFill>
              <a:srgbClr val="E7E0D2">
                <a:alpha val="55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0" y="6144768"/>
            <a:ext cx="12191695" cy="0"/>
          </a:xfrm>
          <a:prstGeom prst="line">
            <a:avLst/>
          </a:prstGeom>
          <a:noFill/>
          <a:ln w="12700">
            <a:solidFill>
              <a:srgbClr val="E7E0D2">
                <a:alpha val="55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0" y="6528816"/>
            <a:ext cx="12191695" cy="0"/>
          </a:xfrm>
          <a:prstGeom prst="line">
            <a:avLst/>
          </a:prstGeom>
          <a:noFill/>
          <a:ln w="12700">
            <a:solidFill>
              <a:srgbClr val="E7E0D2">
                <a:alpha val="55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94360" y="429768"/>
            <a:ext cx="164592" cy="164592"/>
          </a:xfrm>
          <a:prstGeom prst="rect">
            <a:avLst>
              <a:gd name="adj" fmla="val 16667"/>
            </a:avLst>
          </a:prstGeom>
          <a:solidFill>
            <a:srgbClr val="1F6F5B"/>
          </a:solidFill>
          <a:ln w="12700">
            <a:solidFill>
              <a:srgbClr val="1F6F5B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50392" y="3840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F6F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LOGIC</a:t>
            </a:r>
            <a:endParaRPr lang="en-US" sz="880" dirty="0"/>
          </a:p>
        </p:txBody>
      </p:sp>
      <p:sp>
        <p:nvSpPr>
          <p:cNvPr id="54" name="Text 52"/>
          <p:cNvSpPr/>
          <p:nvPr/>
        </p:nvSpPr>
        <p:spPr>
          <a:xfrm>
            <a:off x="594360" y="804672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1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Circulation safeguards protect the inventory.</a:t>
            </a:r>
            <a:endParaRPr lang="en-US" sz="2700" dirty="0"/>
          </a:p>
        </p:txBody>
      </p:sp>
      <p:sp>
        <p:nvSpPr>
          <p:cNvPr id="55" name="Text 53"/>
          <p:cNvSpPr/>
          <p:nvPr/>
        </p:nvSpPr>
        <p:spPr>
          <a:xfrm>
            <a:off x="612648" y="1700784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3706D"/>
                </a:solidFill>
              </a:rPr>
              <a:t>The borrowing workflow encodes the rules that matter most in a real library.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914400" y="2651760"/>
            <a:ext cx="1097280" cy="1097280"/>
          </a:xfrm>
          <a:prstGeom prst="ellipse">
            <a:avLst/>
          </a:prstGeom>
          <a:solidFill>
            <a:srgbClr val="1F6F5B"/>
          </a:solidFill>
          <a:ln w="12700">
            <a:solidFill>
              <a:srgbClr val="1F6F5B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77240" y="3886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7211F"/>
                </a:solidFill>
              </a:rPr>
              <a:t>Available copy</a:t>
            </a:r>
            <a:endParaRPr lang="en-US" sz="930" dirty="0"/>
          </a:p>
        </p:txBody>
      </p:sp>
      <p:sp>
        <p:nvSpPr>
          <p:cNvPr id="58" name="Shape 56"/>
          <p:cNvSpPr/>
          <p:nvPr/>
        </p:nvSpPr>
        <p:spPr>
          <a:xfrm>
            <a:off x="2057400" y="3200400"/>
            <a:ext cx="822960" cy="0"/>
          </a:xfrm>
          <a:prstGeom prst="line">
            <a:avLst/>
          </a:prstGeom>
          <a:noFill/>
          <a:ln w="12700">
            <a:solidFill>
              <a:srgbClr val="63706D"/>
            </a:solidFill>
            <a:prstDash val="solid"/>
            <a:headEnd type="none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2971800" y="2651760"/>
            <a:ext cx="1097280" cy="1097280"/>
          </a:xfrm>
          <a:prstGeom prst="ellipse">
            <a:avLst/>
          </a:prstGeom>
          <a:solidFill>
            <a:srgbClr val="285F8F"/>
          </a:solidFill>
          <a:ln w="12700">
            <a:solidFill>
              <a:srgbClr val="285F8F">
                <a:alpha val="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834640" y="3886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7211F"/>
                </a:solidFill>
              </a:rPr>
              <a:t>Issue record</a:t>
            </a:r>
            <a:endParaRPr lang="en-US" sz="930" dirty="0"/>
          </a:p>
        </p:txBody>
      </p:sp>
      <p:sp>
        <p:nvSpPr>
          <p:cNvPr id="61" name="Shape 59"/>
          <p:cNvSpPr/>
          <p:nvPr/>
        </p:nvSpPr>
        <p:spPr>
          <a:xfrm>
            <a:off x="4114800" y="3200400"/>
            <a:ext cx="822960" cy="0"/>
          </a:xfrm>
          <a:prstGeom prst="line">
            <a:avLst/>
          </a:prstGeom>
          <a:noFill/>
          <a:ln w="12700">
            <a:solidFill>
              <a:srgbClr val="63706D"/>
            </a:solidFill>
            <a:prstDash val="solid"/>
            <a:headEnd type="none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5029200" y="2651760"/>
            <a:ext cx="1097280" cy="1097280"/>
          </a:xfrm>
          <a:prstGeom prst="ellipse">
            <a:avLst/>
          </a:prstGeom>
          <a:solidFill>
            <a:srgbClr val="C47A28"/>
          </a:solidFill>
          <a:ln w="12700">
            <a:solidFill>
              <a:srgbClr val="C47A28">
                <a:alpha val="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892040" y="3886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7211F"/>
                </a:solidFill>
              </a:rPr>
              <a:t>Due date</a:t>
            </a:r>
            <a:endParaRPr lang="en-US" sz="930" dirty="0"/>
          </a:p>
        </p:txBody>
      </p:sp>
      <p:sp>
        <p:nvSpPr>
          <p:cNvPr id="64" name="Shape 62"/>
          <p:cNvSpPr/>
          <p:nvPr/>
        </p:nvSpPr>
        <p:spPr>
          <a:xfrm>
            <a:off x="6172200" y="3200400"/>
            <a:ext cx="822960" cy="0"/>
          </a:xfrm>
          <a:prstGeom prst="line">
            <a:avLst/>
          </a:prstGeom>
          <a:noFill/>
          <a:ln w="12700">
            <a:solidFill>
              <a:srgbClr val="63706D"/>
            </a:solidFill>
            <a:prstDash val="solid"/>
            <a:headEnd type="none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7086600" y="2651760"/>
            <a:ext cx="1097280" cy="1097280"/>
          </a:xfrm>
          <a:prstGeom prst="ellipse">
            <a:avLst/>
          </a:prstGeom>
          <a:solidFill>
            <a:srgbClr val="1F6F5B"/>
          </a:solidFill>
          <a:ln w="12700">
            <a:solidFill>
              <a:srgbClr val="1F6F5B">
                <a:alpha val="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949440" y="3886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7211F"/>
                </a:solidFill>
              </a:rPr>
              <a:t>Return</a:t>
            </a:r>
            <a:endParaRPr lang="en-US" sz="930" dirty="0"/>
          </a:p>
        </p:txBody>
      </p:sp>
      <p:sp>
        <p:nvSpPr>
          <p:cNvPr id="67" name="Shape 65"/>
          <p:cNvSpPr/>
          <p:nvPr/>
        </p:nvSpPr>
        <p:spPr>
          <a:xfrm>
            <a:off x="8229600" y="3200400"/>
            <a:ext cx="822960" cy="0"/>
          </a:xfrm>
          <a:prstGeom prst="line">
            <a:avLst/>
          </a:prstGeom>
          <a:noFill/>
          <a:ln w="12700">
            <a:solidFill>
              <a:srgbClr val="63706D"/>
            </a:solidFill>
            <a:prstDash val="solid"/>
            <a:headEnd type="none"/>
            <a:tailEnd type="triangle"/>
          </a:ln>
        </p:spPr>
      </p:sp>
      <p:sp>
        <p:nvSpPr>
          <p:cNvPr id="68" name="Shape 66"/>
          <p:cNvSpPr/>
          <p:nvPr/>
        </p:nvSpPr>
        <p:spPr>
          <a:xfrm>
            <a:off x="9144000" y="2651760"/>
            <a:ext cx="1097280" cy="1097280"/>
          </a:xfrm>
          <a:prstGeom prst="ellipse">
            <a:avLst/>
          </a:prstGeom>
          <a:solidFill>
            <a:srgbClr val="B64B57"/>
          </a:solidFill>
          <a:ln w="12700">
            <a:solidFill>
              <a:srgbClr val="B64B57">
                <a:alpha val="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006840" y="3886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7211F"/>
                </a:solidFill>
              </a:rPr>
              <a:t>Notify waitlist</a:t>
            </a:r>
            <a:endParaRPr lang="en-US" sz="930" dirty="0"/>
          </a:p>
        </p:txBody>
      </p:sp>
      <p:sp>
        <p:nvSpPr>
          <p:cNvPr id="70" name="Text 68"/>
          <p:cNvSpPr/>
          <p:nvPr/>
        </p:nvSpPr>
        <p:spPr>
          <a:xfrm>
            <a:off x="960120" y="480060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6F5B"/>
                </a:solidFill>
              </a:rPr>
              <a:t>✓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1234440" y="4800600"/>
            <a:ext cx="8138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7211F"/>
                </a:solidFill>
              </a:rPr>
              <a:t>Transactional checkout decrements stock only when copies are available.</a:t>
            </a:r>
            <a:endParaRPr lang="en-US" sz="910" dirty="0"/>
          </a:p>
        </p:txBody>
      </p:sp>
      <p:sp>
        <p:nvSpPr>
          <p:cNvPr id="72" name="Text 70"/>
          <p:cNvSpPr/>
          <p:nvPr/>
        </p:nvSpPr>
        <p:spPr>
          <a:xfrm>
            <a:off x="960120" y="5093208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6F5B"/>
                </a:solidFill>
              </a:rPr>
              <a:t>✓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1234440" y="5093208"/>
            <a:ext cx="8138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7211F"/>
                </a:solidFill>
              </a:rPr>
              <a:t>Unique active-loan constraint prevents the same user from holding the same book twice.</a:t>
            </a:r>
            <a:endParaRPr lang="en-US" sz="910" dirty="0"/>
          </a:p>
        </p:txBody>
      </p:sp>
      <p:sp>
        <p:nvSpPr>
          <p:cNvPr id="74" name="Text 72"/>
          <p:cNvSpPr/>
          <p:nvPr/>
        </p:nvSpPr>
        <p:spPr>
          <a:xfrm>
            <a:off x="960120" y="5385816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6F5B"/>
                </a:solidFill>
              </a:rPr>
              <a:t>✓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1234440" y="5385816"/>
            <a:ext cx="8138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7211F"/>
                </a:solidFill>
              </a:rPr>
              <a:t>Return flow restores stock and triggers waitlist notifications.</a:t>
            </a:r>
            <a:endParaRPr lang="en-US" sz="910" dirty="0"/>
          </a:p>
        </p:txBody>
      </p:sp>
      <p:sp>
        <p:nvSpPr>
          <p:cNvPr id="76" name="Text 74"/>
          <p:cNvSpPr/>
          <p:nvPr/>
        </p:nvSpPr>
        <p:spPr>
          <a:xfrm>
            <a:off x="960120" y="567842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6F5B"/>
                </a:solidFill>
              </a:rPr>
              <a:t>✓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1234440" y="5678424"/>
            <a:ext cx="8138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7211F"/>
                </a:solidFill>
              </a:rPr>
              <a:t>Overdue fine exposure is calculated from due date and configurable daily rate.</a:t>
            </a:r>
            <a:endParaRPr lang="en-US" sz="910" dirty="0"/>
          </a:p>
        </p:txBody>
      </p:sp>
      <p:sp>
        <p:nvSpPr>
          <p:cNvPr id="78" name="Text 76"/>
          <p:cNvSpPr/>
          <p:nvPr/>
        </p:nvSpPr>
        <p:spPr>
          <a:xfrm>
            <a:off x="594360" y="64465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3706D"/>
                </a:solidFill>
              </a:rPr>
              <a:t>Astra Library Management System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11018520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F6F5B"/>
                </a:solidFill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144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36192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20240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04288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88336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72384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56432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24528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08576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92624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76672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60720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44768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28816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12864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96912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65008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49056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33104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17152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985248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369296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753344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137392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521440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12700">
            <a:solidFill>
              <a:srgbClr val="E7E0D2">
                <a:alpha val="6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12700">
            <a:solidFill>
              <a:srgbClr val="E7E0D2">
                <a:alpha val="5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84048"/>
            <a:ext cx="12191695" cy="0"/>
          </a:xfrm>
          <a:prstGeom prst="line">
            <a:avLst/>
          </a:prstGeom>
          <a:noFill/>
          <a:ln w="12700">
            <a:solidFill>
              <a:srgbClr val="E7E0D2">
                <a:alpha val="5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768096"/>
            <a:ext cx="12191695" cy="0"/>
          </a:xfrm>
          <a:prstGeom prst="line">
            <a:avLst/>
          </a:prstGeom>
          <a:noFill/>
          <a:ln w="12700">
            <a:solidFill>
              <a:srgbClr val="E7E0D2">
                <a:alpha val="5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1152144"/>
            <a:ext cx="12191695" cy="0"/>
          </a:xfrm>
          <a:prstGeom prst="line">
            <a:avLst/>
          </a:prstGeom>
          <a:noFill/>
          <a:ln w="12700">
            <a:solidFill>
              <a:srgbClr val="E7E0D2">
                <a:alpha val="5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1536192"/>
            <a:ext cx="12191695" cy="0"/>
          </a:xfrm>
          <a:prstGeom prst="line">
            <a:avLst/>
          </a:prstGeom>
          <a:noFill/>
          <a:ln w="12700">
            <a:solidFill>
              <a:srgbClr val="E7E0D2">
                <a:alpha val="5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1920240"/>
            <a:ext cx="12191695" cy="0"/>
          </a:xfrm>
          <a:prstGeom prst="line">
            <a:avLst/>
          </a:prstGeom>
          <a:noFill/>
          <a:ln w="12700">
            <a:solidFill>
              <a:srgbClr val="E7E0D2">
                <a:alpha val="5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2304288"/>
            <a:ext cx="12191695" cy="0"/>
          </a:xfrm>
          <a:prstGeom prst="line">
            <a:avLst/>
          </a:prstGeom>
          <a:noFill/>
          <a:ln w="12700">
            <a:solidFill>
              <a:srgbClr val="E7E0D2">
                <a:alpha val="5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2688336"/>
            <a:ext cx="12191695" cy="0"/>
          </a:xfrm>
          <a:prstGeom prst="line">
            <a:avLst/>
          </a:prstGeom>
          <a:noFill/>
          <a:ln w="12700">
            <a:solidFill>
              <a:srgbClr val="E7E0D2">
                <a:alpha val="5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3072384"/>
            <a:ext cx="12191695" cy="0"/>
          </a:xfrm>
          <a:prstGeom prst="line">
            <a:avLst/>
          </a:prstGeom>
          <a:noFill/>
          <a:ln w="12700">
            <a:solidFill>
              <a:srgbClr val="E7E0D2">
                <a:alpha val="5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3456432"/>
            <a:ext cx="12191695" cy="0"/>
          </a:xfrm>
          <a:prstGeom prst="line">
            <a:avLst/>
          </a:prstGeom>
          <a:noFill/>
          <a:ln w="12700">
            <a:solidFill>
              <a:srgbClr val="E7E0D2">
                <a:alpha val="5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3840480"/>
            <a:ext cx="12191695" cy="0"/>
          </a:xfrm>
          <a:prstGeom prst="line">
            <a:avLst/>
          </a:prstGeom>
          <a:noFill/>
          <a:ln w="12700">
            <a:solidFill>
              <a:srgbClr val="E7E0D2">
                <a:alpha val="5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4224528"/>
            <a:ext cx="12191695" cy="0"/>
          </a:xfrm>
          <a:prstGeom prst="line">
            <a:avLst/>
          </a:prstGeom>
          <a:noFill/>
          <a:ln w="12700">
            <a:solidFill>
              <a:srgbClr val="E7E0D2">
                <a:alpha val="5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4608576"/>
            <a:ext cx="12191695" cy="0"/>
          </a:xfrm>
          <a:prstGeom prst="line">
            <a:avLst/>
          </a:prstGeom>
          <a:noFill/>
          <a:ln w="12700">
            <a:solidFill>
              <a:srgbClr val="E7E0D2">
                <a:alpha val="5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4992624"/>
            <a:ext cx="12191695" cy="0"/>
          </a:xfrm>
          <a:prstGeom prst="line">
            <a:avLst/>
          </a:prstGeom>
          <a:noFill/>
          <a:ln w="12700">
            <a:solidFill>
              <a:srgbClr val="E7E0D2">
                <a:alpha val="5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0" y="5376672"/>
            <a:ext cx="12191695" cy="0"/>
          </a:xfrm>
          <a:prstGeom prst="line">
            <a:avLst/>
          </a:prstGeom>
          <a:noFill/>
          <a:ln w="12700">
            <a:solidFill>
              <a:srgbClr val="E7E0D2">
                <a:alpha val="5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0" y="5760720"/>
            <a:ext cx="12191695" cy="0"/>
          </a:xfrm>
          <a:prstGeom prst="line">
            <a:avLst/>
          </a:prstGeom>
          <a:noFill/>
          <a:ln w="12700">
            <a:solidFill>
              <a:srgbClr val="E7E0D2">
                <a:alpha val="55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0" y="6144768"/>
            <a:ext cx="12191695" cy="0"/>
          </a:xfrm>
          <a:prstGeom prst="line">
            <a:avLst/>
          </a:prstGeom>
          <a:noFill/>
          <a:ln w="12700">
            <a:solidFill>
              <a:srgbClr val="E7E0D2">
                <a:alpha val="55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0" y="6528816"/>
            <a:ext cx="12191695" cy="0"/>
          </a:xfrm>
          <a:prstGeom prst="line">
            <a:avLst/>
          </a:prstGeom>
          <a:noFill/>
          <a:ln w="12700">
            <a:solidFill>
              <a:srgbClr val="E7E0D2">
                <a:alpha val="55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94360" y="429768"/>
            <a:ext cx="164592" cy="164592"/>
          </a:xfrm>
          <a:prstGeom prst="rect">
            <a:avLst>
              <a:gd name="adj" fmla="val 16667"/>
            </a:avLst>
          </a:prstGeom>
          <a:solidFill>
            <a:srgbClr val="1F6F5B"/>
          </a:solidFill>
          <a:ln w="12700">
            <a:solidFill>
              <a:srgbClr val="1F6F5B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50392" y="3840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F6F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READINESS</a:t>
            </a:r>
            <a:endParaRPr lang="en-US" sz="880" dirty="0"/>
          </a:p>
        </p:txBody>
      </p:sp>
      <p:sp>
        <p:nvSpPr>
          <p:cNvPr id="54" name="Text 52"/>
          <p:cNvSpPr/>
          <p:nvPr/>
        </p:nvSpPr>
        <p:spPr>
          <a:xfrm>
            <a:off x="594360" y="804672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1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project is ready to run, test, seed, and deploy.</a:t>
            </a:r>
            <a:endParaRPr lang="en-US" sz="2700" dirty="0"/>
          </a:p>
        </p:txBody>
      </p:sp>
      <p:sp>
        <p:nvSpPr>
          <p:cNvPr id="55" name="Text 53"/>
          <p:cNvSpPr/>
          <p:nvPr/>
        </p:nvSpPr>
        <p:spPr>
          <a:xfrm>
            <a:off x="612648" y="1700784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3706D"/>
                </a:solidFill>
              </a:rPr>
              <a:t>It includes the operational files expected of a professional Django handoff.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868680" y="22402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6F5B"/>
                </a:solidFill>
              </a:rPr>
              <a:t>Run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868680" y="2697480"/>
            <a:ext cx="2697480" cy="0"/>
          </a:xfrm>
          <a:prstGeom prst="line">
            <a:avLst/>
          </a:prstGeom>
          <a:noFill/>
          <a:ln w="12700">
            <a:solidFill>
              <a:srgbClr val="1F6F5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68680" y="30632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7211F"/>
                </a:solidFill>
              </a:rPr>
              <a:t>requirements.txt</a:t>
            </a:r>
            <a:endParaRPr lang="en-US" sz="1060" dirty="0"/>
          </a:p>
        </p:txBody>
      </p:sp>
      <p:sp>
        <p:nvSpPr>
          <p:cNvPr id="59" name="Text 57"/>
          <p:cNvSpPr/>
          <p:nvPr/>
        </p:nvSpPr>
        <p:spPr>
          <a:xfrm>
            <a:off x="868680" y="34747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7211F"/>
                </a:solidFill>
              </a:rPr>
              <a:t>migrate</a:t>
            </a:r>
            <a:endParaRPr lang="en-US" sz="1060" dirty="0"/>
          </a:p>
        </p:txBody>
      </p:sp>
      <p:sp>
        <p:nvSpPr>
          <p:cNvPr id="60" name="Text 58"/>
          <p:cNvSpPr/>
          <p:nvPr/>
        </p:nvSpPr>
        <p:spPr>
          <a:xfrm>
            <a:off x="868680" y="38862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7211F"/>
                </a:solidFill>
              </a:rPr>
              <a:t>seed_library</a:t>
            </a:r>
            <a:endParaRPr lang="en-US" sz="1060" dirty="0"/>
          </a:p>
        </p:txBody>
      </p:sp>
      <p:sp>
        <p:nvSpPr>
          <p:cNvPr id="61" name="Text 59"/>
          <p:cNvSpPr/>
          <p:nvPr/>
        </p:nvSpPr>
        <p:spPr>
          <a:xfrm>
            <a:off x="868680" y="42976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7211F"/>
                </a:solidFill>
              </a:rPr>
              <a:t>runserver</a:t>
            </a:r>
            <a:endParaRPr lang="en-US" sz="1060" dirty="0"/>
          </a:p>
        </p:txBody>
      </p:sp>
      <p:sp>
        <p:nvSpPr>
          <p:cNvPr id="62" name="Text 60"/>
          <p:cNvSpPr/>
          <p:nvPr/>
        </p:nvSpPr>
        <p:spPr>
          <a:xfrm>
            <a:off x="4526280" y="22402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F8F"/>
                </a:solidFill>
              </a:rPr>
              <a:t>Verify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4526280" y="2697480"/>
            <a:ext cx="2697480" cy="0"/>
          </a:xfrm>
          <a:prstGeom prst="line">
            <a:avLst/>
          </a:prstGeom>
          <a:noFill/>
          <a:ln w="12700">
            <a:solidFill>
              <a:srgbClr val="285F8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26280" y="30632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7211F"/>
                </a:solidFill>
              </a:rPr>
              <a:t>manage.py check</a:t>
            </a:r>
            <a:endParaRPr lang="en-US" sz="1060" dirty="0"/>
          </a:p>
        </p:txBody>
      </p:sp>
      <p:sp>
        <p:nvSpPr>
          <p:cNvPr id="65" name="Text 63"/>
          <p:cNvSpPr/>
          <p:nvPr/>
        </p:nvSpPr>
        <p:spPr>
          <a:xfrm>
            <a:off x="4526280" y="34747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7211F"/>
                </a:solidFill>
              </a:rPr>
              <a:t>8 tests passing</a:t>
            </a:r>
            <a:endParaRPr lang="en-US" sz="1060" dirty="0"/>
          </a:p>
        </p:txBody>
      </p:sp>
      <p:sp>
        <p:nvSpPr>
          <p:cNvPr id="66" name="Text 64"/>
          <p:cNvSpPr/>
          <p:nvPr/>
        </p:nvSpPr>
        <p:spPr>
          <a:xfrm>
            <a:off x="4526280" y="38862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7211F"/>
                </a:solidFill>
              </a:rPr>
              <a:t>route smoke checks</a:t>
            </a:r>
            <a:endParaRPr lang="en-US" sz="1060" dirty="0"/>
          </a:p>
        </p:txBody>
      </p:sp>
      <p:sp>
        <p:nvSpPr>
          <p:cNvPr id="67" name="Text 65"/>
          <p:cNvSpPr/>
          <p:nvPr/>
        </p:nvSpPr>
        <p:spPr>
          <a:xfrm>
            <a:off x="4526280" y="42976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7211F"/>
                </a:solidFill>
              </a:rPr>
              <a:t>clean Git state</a:t>
            </a:r>
            <a:endParaRPr lang="en-US" sz="1060" dirty="0"/>
          </a:p>
        </p:txBody>
      </p:sp>
      <p:sp>
        <p:nvSpPr>
          <p:cNvPr id="68" name="Text 66"/>
          <p:cNvSpPr/>
          <p:nvPr/>
        </p:nvSpPr>
        <p:spPr>
          <a:xfrm>
            <a:off x="8183880" y="22402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7A28"/>
                </a:solidFill>
              </a:rPr>
              <a:t>Deploy</a:t>
            </a:r>
            <a:endParaRPr lang="en-US" sz="1800" dirty="0"/>
          </a:p>
        </p:txBody>
      </p:sp>
      <p:sp>
        <p:nvSpPr>
          <p:cNvPr id="69" name="Shape 67"/>
          <p:cNvSpPr/>
          <p:nvPr/>
        </p:nvSpPr>
        <p:spPr>
          <a:xfrm>
            <a:off x="8183880" y="2697480"/>
            <a:ext cx="2697480" cy="0"/>
          </a:xfrm>
          <a:prstGeom prst="line">
            <a:avLst/>
          </a:prstGeom>
          <a:noFill/>
          <a:ln w="12700">
            <a:solidFill>
              <a:srgbClr val="C47A2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183880" y="30632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7211F"/>
                </a:solidFill>
              </a:rPr>
              <a:t>Dockerfile</a:t>
            </a:r>
            <a:endParaRPr lang="en-US" sz="1060" dirty="0"/>
          </a:p>
        </p:txBody>
      </p:sp>
      <p:sp>
        <p:nvSpPr>
          <p:cNvPr id="71" name="Text 69"/>
          <p:cNvSpPr/>
          <p:nvPr/>
        </p:nvSpPr>
        <p:spPr>
          <a:xfrm>
            <a:off x="8183880" y="34747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7211F"/>
                </a:solidFill>
              </a:rPr>
              <a:t>docker-compose.yml</a:t>
            </a:r>
            <a:endParaRPr lang="en-US" sz="1060" dirty="0"/>
          </a:p>
        </p:txBody>
      </p:sp>
      <p:sp>
        <p:nvSpPr>
          <p:cNvPr id="72" name="Text 70"/>
          <p:cNvSpPr/>
          <p:nvPr/>
        </p:nvSpPr>
        <p:spPr>
          <a:xfrm>
            <a:off x="8183880" y="38862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7211F"/>
                </a:solidFill>
              </a:rPr>
              <a:t>PostgreSQL URL</a:t>
            </a:r>
            <a:endParaRPr lang="en-US" sz="1060" dirty="0"/>
          </a:p>
        </p:txBody>
      </p:sp>
      <p:sp>
        <p:nvSpPr>
          <p:cNvPr id="73" name="Text 71"/>
          <p:cNvSpPr/>
          <p:nvPr/>
        </p:nvSpPr>
        <p:spPr>
          <a:xfrm>
            <a:off x="8183880" y="42976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7211F"/>
                </a:solidFill>
              </a:rPr>
              <a:t>collectstatic path</a:t>
            </a:r>
            <a:endParaRPr lang="en-US" sz="1060" dirty="0"/>
          </a:p>
        </p:txBody>
      </p:sp>
      <p:sp>
        <p:nvSpPr>
          <p:cNvPr id="74" name="Shape 72"/>
          <p:cNvSpPr/>
          <p:nvPr/>
        </p:nvSpPr>
        <p:spPr>
          <a:xfrm>
            <a:off x="868680" y="5440680"/>
            <a:ext cx="9966960" cy="384048"/>
          </a:xfrm>
          <a:prstGeom prst="roundRect">
            <a:avLst>
              <a:gd name="adj" fmla="val 11905"/>
            </a:avLst>
          </a:prstGeom>
          <a:solidFill>
            <a:srgbClr val="F7E4C9"/>
          </a:solidFill>
          <a:ln w="12700">
            <a:solidFill>
              <a:srgbClr val="F7E4C9">
                <a:alpha val="0"/>
              </a:srgbClr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051560" y="5541264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C47A28"/>
                </a:solidFill>
              </a:rPr>
              <a:t>GitHub repository: github.com/Atvee/library-management-system</a:t>
            </a:r>
            <a:endParaRPr lang="en-US" sz="930" dirty="0"/>
          </a:p>
        </p:txBody>
      </p:sp>
      <p:sp>
        <p:nvSpPr>
          <p:cNvPr id="76" name="Text 74"/>
          <p:cNvSpPr/>
          <p:nvPr/>
        </p:nvSpPr>
        <p:spPr>
          <a:xfrm>
            <a:off x="594360" y="64465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3706D"/>
                </a:solidFill>
              </a:rPr>
              <a:t>Astra Library Management System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11018520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F6F5B"/>
                </a:solidFill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230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57200"/>
            <a:ext cx="164592" cy="164592"/>
          </a:xfrm>
          <a:prstGeom prst="rect">
            <a:avLst>
              <a:gd name="adj" fmla="val 16667"/>
            </a:avLst>
          </a:prstGeom>
          <a:solidFill>
            <a:srgbClr val="C47A28"/>
          </a:solidFill>
          <a:ln w="12700">
            <a:solidFill>
              <a:srgbClr val="C47A2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" y="4114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7E4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94360" y="960120"/>
            <a:ext cx="6858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Astra Library is complete today, with clear paths for production growth.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914400" y="27889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E4C9"/>
                </a:solidFill>
              </a:rPr>
              <a:t>Payments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194560" y="2807208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D8D2C6"/>
                </a:solidFill>
              </a:rPr>
              <a:t>fine settlement and receipts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914400" y="33558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E4C9"/>
                </a:solidFill>
              </a:rPr>
              <a:t>Email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194560" y="3374136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D8D2C6"/>
                </a:solidFill>
              </a:rPr>
              <a:t>due-date reminders and request updates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914400" y="39227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E4C9"/>
                </a:solidFill>
              </a:rPr>
              <a:t>API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94560" y="3941064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D8D2C6"/>
                </a:solidFill>
              </a:rPr>
              <a:t>DRF auth for mobile clients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914400" y="44897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E4C9"/>
                </a:solidFill>
              </a:rPr>
              <a:t>Cloud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94560" y="4507992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D8D2C6"/>
                </a:solidFill>
              </a:rPr>
              <a:t>PostgreSQL, object storage, HTTPS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7818120" y="2011680"/>
            <a:ext cx="2103120" cy="2103120"/>
          </a:xfrm>
          <a:prstGeom prst="arc">
            <a:avLst/>
          </a:prstGeom>
          <a:solidFill>
            <a:srgbClr val="22302D">
              <a:alpha val="0"/>
            </a:srgbClr>
          </a:solidFill>
          <a:ln w="12700">
            <a:solidFill>
              <a:srgbClr val="1F6F5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83880" y="2377440"/>
            <a:ext cx="1371600" cy="1371600"/>
          </a:xfrm>
          <a:prstGeom prst="arc">
            <a:avLst/>
          </a:prstGeom>
          <a:solidFill>
            <a:srgbClr val="22302D">
              <a:alpha val="0"/>
            </a:srgbClr>
          </a:solidFill>
          <a:ln w="12700">
            <a:solidFill>
              <a:srgbClr val="C47A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0" y="47548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Thank you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94360" y="64465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D2C6"/>
                </a:solidFill>
              </a:rPr>
              <a:t>Astra Library Management System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018520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7E4C9"/>
                </a:solidFill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Astra Library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Astra Library Management System</dc:title>
  <dc:subject>Library Management System project presentation</dc:subject>
  <dc:creator>Codex</dc:creator>
  <cp:lastModifiedBy>Codex</cp:lastModifiedBy>
  <cp:revision>1</cp:revision>
  <dcterms:created xsi:type="dcterms:W3CDTF">2026-05-10T12:09:02Z</dcterms:created>
  <dcterms:modified xsi:type="dcterms:W3CDTF">2026-05-10T12:09:02Z</dcterms:modified>
</cp:coreProperties>
</file>